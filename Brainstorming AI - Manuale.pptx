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72" r:id="rId8"/>
    <p:sldId id="277" r:id="rId9"/>
    <p:sldId id="278" r:id="rId10"/>
    <p:sldId id="279" r:id="rId1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B83C60-97C0-06CE-35FE-4AE156074E2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B32CECD9-AF12-E084-7657-509282400D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94092D8-B0D3-763A-4190-12DB8BA45402}"/>
              </a:ext>
            </a:extLst>
          </p:cNvPr>
          <p:cNvSpPr>
            <a:spLocks noGrp="1"/>
          </p:cNvSpPr>
          <p:nvPr>
            <p:ph type="dt" sz="half" idx="10"/>
          </p:nvPr>
        </p:nvSpPr>
        <p:spPr/>
        <p:txBody>
          <a:bodyPr/>
          <a:lstStyle/>
          <a:p>
            <a:fld id="{AFE17FBC-4B28-415C-A976-697335E0486B}" type="datetimeFigureOut">
              <a:rPr lang="it-IT" smtClean="0"/>
              <a:t>18/06/2025</a:t>
            </a:fld>
            <a:endParaRPr lang="it-IT"/>
          </a:p>
        </p:txBody>
      </p:sp>
      <p:sp>
        <p:nvSpPr>
          <p:cNvPr id="5" name="Segnaposto piè di pagina 4">
            <a:extLst>
              <a:ext uri="{FF2B5EF4-FFF2-40B4-BE49-F238E27FC236}">
                <a16:creationId xmlns:a16="http://schemas.microsoft.com/office/drawing/2014/main" id="{28061F9E-8F38-2C1D-C90F-5B153E9D138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7100293-7A60-9875-E212-3FC3BA8ACDB7}"/>
              </a:ext>
            </a:extLst>
          </p:cNvPr>
          <p:cNvSpPr>
            <a:spLocks noGrp="1"/>
          </p:cNvSpPr>
          <p:nvPr>
            <p:ph type="sldNum" sz="quarter" idx="12"/>
          </p:nvPr>
        </p:nvSpPr>
        <p:spPr/>
        <p:txBody>
          <a:bodyPr/>
          <a:lstStyle/>
          <a:p>
            <a:fld id="{879F52EE-ACF0-46C2-93E4-FD99134A8A6C}" type="slidenum">
              <a:rPr lang="it-IT" smtClean="0"/>
              <a:t>‹N›</a:t>
            </a:fld>
            <a:endParaRPr lang="it-IT"/>
          </a:p>
        </p:txBody>
      </p:sp>
    </p:spTree>
    <p:extLst>
      <p:ext uri="{BB962C8B-B14F-4D97-AF65-F5344CB8AC3E}">
        <p14:creationId xmlns:p14="http://schemas.microsoft.com/office/powerpoint/2010/main" val="2343183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F37CE8-6037-C263-930A-1C43EE5FCFE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C0D1F0C-EB94-3400-A34A-BC4BFC1B5220}"/>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7F0888F-060B-6C6F-EE7D-426383182B91}"/>
              </a:ext>
            </a:extLst>
          </p:cNvPr>
          <p:cNvSpPr>
            <a:spLocks noGrp="1"/>
          </p:cNvSpPr>
          <p:nvPr>
            <p:ph type="dt" sz="half" idx="10"/>
          </p:nvPr>
        </p:nvSpPr>
        <p:spPr/>
        <p:txBody>
          <a:bodyPr/>
          <a:lstStyle/>
          <a:p>
            <a:fld id="{AFE17FBC-4B28-415C-A976-697335E0486B}" type="datetimeFigureOut">
              <a:rPr lang="it-IT" smtClean="0"/>
              <a:t>18/06/2025</a:t>
            </a:fld>
            <a:endParaRPr lang="it-IT"/>
          </a:p>
        </p:txBody>
      </p:sp>
      <p:sp>
        <p:nvSpPr>
          <p:cNvPr id="5" name="Segnaposto piè di pagina 4">
            <a:extLst>
              <a:ext uri="{FF2B5EF4-FFF2-40B4-BE49-F238E27FC236}">
                <a16:creationId xmlns:a16="http://schemas.microsoft.com/office/drawing/2014/main" id="{E94C5752-252D-AEF7-36B3-39D8C63EC10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BFF5B46-7AD6-3FFD-BCC8-8BFBBA6DAE53}"/>
              </a:ext>
            </a:extLst>
          </p:cNvPr>
          <p:cNvSpPr>
            <a:spLocks noGrp="1"/>
          </p:cNvSpPr>
          <p:nvPr>
            <p:ph type="sldNum" sz="quarter" idx="12"/>
          </p:nvPr>
        </p:nvSpPr>
        <p:spPr/>
        <p:txBody>
          <a:bodyPr/>
          <a:lstStyle/>
          <a:p>
            <a:fld id="{879F52EE-ACF0-46C2-93E4-FD99134A8A6C}" type="slidenum">
              <a:rPr lang="it-IT" smtClean="0"/>
              <a:t>‹N›</a:t>
            </a:fld>
            <a:endParaRPr lang="it-IT"/>
          </a:p>
        </p:txBody>
      </p:sp>
    </p:spTree>
    <p:extLst>
      <p:ext uri="{BB962C8B-B14F-4D97-AF65-F5344CB8AC3E}">
        <p14:creationId xmlns:p14="http://schemas.microsoft.com/office/powerpoint/2010/main" val="3971841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7B0577-D2F4-8D21-4754-FFEA9DD4F3D9}"/>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405D9506-B6D9-3C35-0CC2-C2FC53C51D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0A31D94-B14B-1A26-C8CA-0B2B45CFF95C}"/>
              </a:ext>
            </a:extLst>
          </p:cNvPr>
          <p:cNvSpPr>
            <a:spLocks noGrp="1"/>
          </p:cNvSpPr>
          <p:nvPr>
            <p:ph type="dt" sz="half" idx="10"/>
          </p:nvPr>
        </p:nvSpPr>
        <p:spPr/>
        <p:txBody>
          <a:bodyPr/>
          <a:lstStyle/>
          <a:p>
            <a:fld id="{AFE17FBC-4B28-415C-A976-697335E0486B}" type="datetimeFigureOut">
              <a:rPr lang="it-IT" smtClean="0"/>
              <a:t>18/06/2025</a:t>
            </a:fld>
            <a:endParaRPr lang="it-IT"/>
          </a:p>
        </p:txBody>
      </p:sp>
      <p:sp>
        <p:nvSpPr>
          <p:cNvPr id="5" name="Segnaposto piè di pagina 4">
            <a:extLst>
              <a:ext uri="{FF2B5EF4-FFF2-40B4-BE49-F238E27FC236}">
                <a16:creationId xmlns:a16="http://schemas.microsoft.com/office/drawing/2014/main" id="{983350B8-010C-3409-13B7-2EC32B4392C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81B241A-19BA-8B08-9856-651FBD30EC65}"/>
              </a:ext>
            </a:extLst>
          </p:cNvPr>
          <p:cNvSpPr>
            <a:spLocks noGrp="1"/>
          </p:cNvSpPr>
          <p:nvPr>
            <p:ph type="sldNum" sz="quarter" idx="12"/>
          </p:nvPr>
        </p:nvSpPr>
        <p:spPr/>
        <p:txBody>
          <a:bodyPr/>
          <a:lstStyle/>
          <a:p>
            <a:fld id="{879F52EE-ACF0-46C2-93E4-FD99134A8A6C}" type="slidenum">
              <a:rPr lang="it-IT" smtClean="0"/>
              <a:t>‹N›</a:t>
            </a:fld>
            <a:endParaRPr lang="it-IT"/>
          </a:p>
        </p:txBody>
      </p:sp>
    </p:spTree>
    <p:extLst>
      <p:ext uri="{BB962C8B-B14F-4D97-AF65-F5344CB8AC3E}">
        <p14:creationId xmlns:p14="http://schemas.microsoft.com/office/powerpoint/2010/main" val="3949451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C1EDE7-FE16-E587-49BB-46C9059ACBC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55C1EB5-4E99-C370-3CAD-D983710E0141}"/>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315B45F6-910C-95D9-CE30-3B6DFE804136}"/>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2CE4B62-FDFA-A5DE-87E1-C8BD4DC40F37}"/>
              </a:ext>
            </a:extLst>
          </p:cNvPr>
          <p:cNvSpPr>
            <a:spLocks noGrp="1"/>
          </p:cNvSpPr>
          <p:nvPr>
            <p:ph type="dt" sz="half" idx="10"/>
          </p:nvPr>
        </p:nvSpPr>
        <p:spPr/>
        <p:txBody>
          <a:bodyPr/>
          <a:lstStyle/>
          <a:p>
            <a:fld id="{AFE17FBC-4B28-415C-A976-697335E0486B}" type="datetimeFigureOut">
              <a:rPr lang="it-IT" smtClean="0"/>
              <a:t>18/06/2025</a:t>
            </a:fld>
            <a:endParaRPr lang="it-IT"/>
          </a:p>
        </p:txBody>
      </p:sp>
      <p:sp>
        <p:nvSpPr>
          <p:cNvPr id="6" name="Segnaposto piè di pagina 5">
            <a:extLst>
              <a:ext uri="{FF2B5EF4-FFF2-40B4-BE49-F238E27FC236}">
                <a16:creationId xmlns:a16="http://schemas.microsoft.com/office/drawing/2014/main" id="{7EADEFE6-2C18-47FA-AC44-AF37A970F25E}"/>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49047D5-C95A-AE3F-E79C-BA46942ADCFC}"/>
              </a:ext>
            </a:extLst>
          </p:cNvPr>
          <p:cNvSpPr>
            <a:spLocks noGrp="1"/>
          </p:cNvSpPr>
          <p:nvPr>
            <p:ph type="sldNum" sz="quarter" idx="12"/>
          </p:nvPr>
        </p:nvSpPr>
        <p:spPr/>
        <p:txBody>
          <a:bodyPr/>
          <a:lstStyle/>
          <a:p>
            <a:fld id="{879F52EE-ACF0-46C2-93E4-FD99134A8A6C}" type="slidenum">
              <a:rPr lang="it-IT" smtClean="0"/>
              <a:t>‹N›</a:t>
            </a:fld>
            <a:endParaRPr lang="it-IT"/>
          </a:p>
        </p:txBody>
      </p:sp>
    </p:spTree>
    <p:extLst>
      <p:ext uri="{BB962C8B-B14F-4D97-AF65-F5344CB8AC3E}">
        <p14:creationId xmlns:p14="http://schemas.microsoft.com/office/powerpoint/2010/main" val="6895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433ABDC-CEEB-744F-CB91-FC6DB95E89C6}"/>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3639938-7A81-6DE6-3244-E723C35359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A2CC5F4D-58E0-43EB-AB3E-264D9F1CECD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8DDFDDF6-71A5-D2B4-CF79-257C1D8A6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F09000F0-B809-0B5D-8876-1FF13FF72910}"/>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B581FDD5-4265-11BB-8451-6818560D0959}"/>
              </a:ext>
            </a:extLst>
          </p:cNvPr>
          <p:cNvSpPr>
            <a:spLocks noGrp="1"/>
          </p:cNvSpPr>
          <p:nvPr>
            <p:ph type="dt" sz="half" idx="10"/>
          </p:nvPr>
        </p:nvSpPr>
        <p:spPr/>
        <p:txBody>
          <a:bodyPr/>
          <a:lstStyle/>
          <a:p>
            <a:fld id="{AFE17FBC-4B28-415C-A976-697335E0486B}" type="datetimeFigureOut">
              <a:rPr lang="it-IT" smtClean="0"/>
              <a:t>18/06/2025</a:t>
            </a:fld>
            <a:endParaRPr lang="it-IT"/>
          </a:p>
        </p:txBody>
      </p:sp>
      <p:sp>
        <p:nvSpPr>
          <p:cNvPr id="8" name="Segnaposto piè di pagina 7">
            <a:extLst>
              <a:ext uri="{FF2B5EF4-FFF2-40B4-BE49-F238E27FC236}">
                <a16:creationId xmlns:a16="http://schemas.microsoft.com/office/drawing/2014/main" id="{3861E635-1961-AABD-C5A4-562EDCFA979F}"/>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06A2D871-3B6D-508A-4887-CE4098BACEFD}"/>
              </a:ext>
            </a:extLst>
          </p:cNvPr>
          <p:cNvSpPr>
            <a:spLocks noGrp="1"/>
          </p:cNvSpPr>
          <p:nvPr>
            <p:ph type="sldNum" sz="quarter" idx="12"/>
          </p:nvPr>
        </p:nvSpPr>
        <p:spPr/>
        <p:txBody>
          <a:bodyPr/>
          <a:lstStyle/>
          <a:p>
            <a:fld id="{879F52EE-ACF0-46C2-93E4-FD99134A8A6C}" type="slidenum">
              <a:rPr lang="it-IT" smtClean="0"/>
              <a:t>‹N›</a:t>
            </a:fld>
            <a:endParaRPr lang="it-IT"/>
          </a:p>
        </p:txBody>
      </p:sp>
    </p:spTree>
    <p:extLst>
      <p:ext uri="{BB962C8B-B14F-4D97-AF65-F5344CB8AC3E}">
        <p14:creationId xmlns:p14="http://schemas.microsoft.com/office/powerpoint/2010/main" val="299914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070B37-DB47-AF5A-F249-DD56C0655BE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C440091E-C085-5EDC-53BD-67BC0DA08638}"/>
              </a:ext>
            </a:extLst>
          </p:cNvPr>
          <p:cNvSpPr>
            <a:spLocks noGrp="1"/>
          </p:cNvSpPr>
          <p:nvPr>
            <p:ph type="dt" sz="half" idx="10"/>
          </p:nvPr>
        </p:nvSpPr>
        <p:spPr/>
        <p:txBody>
          <a:bodyPr/>
          <a:lstStyle/>
          <a:p>
            <a:fld id="{AFE17FBC-4B28-415C-A976-697335E0486B}" type="datetimeFigureOut">
              <a:rPr lang="it-IT" smtClean="0"/>
              <a:t>18/06/2025</a:t>
            </a:fld>
            <a:endParaRPr lang="it-IT"/>
          </a:p>
        </p:txBody>
      </p:sp>
      <p:sp>
        <p:nvSpPr>
          <p:cNvPr id="4" name="Segnaposto piè di pagina 3">
            <a:extLst>
              <a:ext uri="{FF2B5EF4-FFF2-40B4-BE49-F238E27FC236}">
                <a16:creationId xmlns:a16="http://schemas.microsoft.com/office/drawing/2014/main" id="{3F5D32E8-EE7C-6D66-631A-68A54822F173}"/>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653FE31F-722E-6164-0AAB-75C3C07569E3}"/>
              </a:ext>
            </a:extLst>
          </p:cNvPr>
          <p:cNvSpPr>
            <a:spLocks noGrp="1"/>
          </p:cNvSpPr>
          <p:nvPr>
            <p:ph type="sldNum" sz="quarter" idx="12"/>
          </p:nvPr>
        </p:nvSpPr>
        <p:spPr/>
        <p:txBody>
          <a:bodyPr/>
          <a:lstStyle/>
          <a:p>
            <a:fld id="{879F52EE-ACF0-46C2-93E4-FD99134A8A6C}" type="slidenum">
              <a:rPr lang="it-IT" smtClean="0"/>
              <a:t>‹N›</a:t>
            </a:fld>
            <a:endParaRPr lang="it-IT"/>
          </a:p>
        </p:txBody>
      </p:sp>
    </p:spTree>
    <p:extLst>
      <p:ext uri="{BB962C8B-B14F-4D97-AF65-F5344CB8AC3E}">
        <p14:creationId xmlns:p14="http://schemas.microsoft.com/office/powerpoint/2010/main" val="1120950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ED7BCFB1-1F11-8855-0BFD-A81B7172219C}"/>
              </a:ext>
            </a:extLst>
          </p:cNvPr>
          <p:cNvSpPr>
            <a:spLocks noGrp="1"/>
          </p:cNvSpPr>
          <p:nvPr>
            <p:ph type="dt" sz="half" idx="10"/>
          </p:nvPr>
        </p:nvSpPr>
        <p:spPr/>
        <p:txBody>
          <a:bodyPr/>
          <a:lstStyle/>
          <a:p>
            <a:fld id="{AFE17FBC-4B28-415C-A976-697335E0486B}" type="datetimeFigureOut">
              <a:rPr lang="it-IT" smtClean="0"/>
              <a:t>18/06/2025</a:t>
            </a:fld>
            <a:endParaRPr lang="it-IT"/>
          </a:p>
        </p:txBody>
      </p:sp>
      <p:sp>
        <p:nvSpPr>
          <p:cNvPr id="3" name="Segnaposto piè di pagina 2">
            <a:extLst>
              <a:ext uri="{FF2B5EF4-FFF2-40B4-BE49-F238E27FC236}">
                <a16:creationId xmlns:a16="http://schemas.microsoft.com/office/drawing/2014/main" id="{EF01F8DA-A628-EEDC-6AC3-7651082A4409}"/>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A6AAC9AD-2879-3AAC-C0C3-9562BB65499B}"/>
              </a:ext>
            </a:extLst>
          </p:cNvPr>
          <p:cNvSpPr>
            <a:spLocks noGrp="1"/>
          </p:cNvSpPr>
          <p:nvPr>
            <p:ph type="sldNum" sz="quarter" idx="12"/>
          </p:nvPr>
        </p:nvSpPr>
        <p:spPr/>
        <p:txBody>
          <a:bodyPr/>
          <a:lstStyle/>
          <a:p>
            <a:fld id="{879F52EE-ACF0-46C2-93E4-FD99134A8A6C}" type="slidenum">
              <a:rPr lang="it-IT" smtClean="0"/>
              <a:t>‹N›</a:t>
            </a:fld>
            <a:endParaRPr lang="it-IT"/>
          </a:p>
        </p:txBody>
      </p:sp>
    </p:spTree>
    <p:extLst>
      <p:ext uri="{BB962C8B-B14F-4D97-AF65-F5344CB8AC3E}">
        <p14:creationId xmlns:p14="http://schemas.microsoft.com/office/powerpoint/2010/main" val="1307632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CD033F-9685-B73D-50BA-E79D9A712972}"/>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5F0B82D-6A2F-271C-C2CB-56825B5A14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D750A377-5520-0106-245F-7C09D0EB36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42065816-CE6B-1E14-3C09-7ABE449F1B5F}"/>
              </a:ext>
            </a:extLst>
          </p:cNvPr>
          <p:cNvSpPr>
            <a:spLocks noGrp="1"/>
          </p:cNvSpPr>
          <p:nvPr>
            <p:ph type="dt" sz="half" idx="10"/>
          </p:nvPr>
        </p:nvSpPr>
        <p:spPr/>
        <p:txBody>
          <a:bodyPr/>
          <a:lstStyle/>
          <a:p>
            <a:fld id="{AFE17FBC-4B28-415C-A976-697335E0486B}" type="datetimeFigureOut">
              <a:rPr lang="it-IT" smtClean="0"/>
              <a:t>18/06/2025</a:t>
            </a:fld>
            <a:endParaRPr lang="it-IT"/>
          </a:p>
        </p:txBody>
      </p:sp>
      <p:sp>
        <p:nvSpPr>
          <p:cNvPr id="6" name="Segnaposto piè di pagina 5">
            <a:extLst>
              <a:ext uri="{FF2B5EF4-FFF2-40B4-BE49-F238E27FC236}">
                <a16:creationId xmlns:a16="http://schemas.microsoft.com/office/drawing/2014/main" id="{9760F76C-F732-5D88-3F89-8165B183A4CB}"/>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777AC44-648F-361D-E31A-5FCE6C59E222}"/>
              </a:ext>
            </a:extLst>
          </p:cNvPr>
          <p:cNvSpPr>
            <a:spLocks noGrp="1"/>
          </p:cNvSpPr>
          <p:nvPr>
            <p:ph type="sldNum" sz="quarter" idx="12"/>
          </p:nvPr>
        </p:nvSpPr>
        <p:spPr/>
        <p:txBody>
          <a:bodyPr/>
          <a:lstStyle/>
          <a:p>
            <a:fld id="{879F52EE-ACF0-46C2-93E4-FD99134A8A6C}" type="slidenum">
              <a:rPr lang="it-IT" smtClean="0"/>
              <a:t>‹N›</a:t>
            </a:fld>
            <a:endParaRPr lang="it-IT"/>
          </a:p>
        </p:txBody>
      </p:sp>
    </p:spTree>
    <p:extLst>
      <p:ext uri="{BB962C8B-B14F-4D97-AF65-F5344CB8AC3E}">
        <p14:creationId xmlns:p14="http://schemas.microsoft.com/office/powerpoint/2010/main" val="1109431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C7671E-AC02-BE30-8E37-F2744FD8F9B2}"/>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4225A261-075E-5532-24E6-95AC709587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92D75EA-D7DF-DDF0-1B49-4385E41ECE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1B0A3002-B1DD-2C11-0515-EBC8967005DF}"/>
              </a:ext>
            </a:extLst>
          </p:cNvPr>
          <p:cNvSpPr>
            <a:spLocks noGrp="1"/>
          </p:cNvSpPr>
          <p:nvPr>
            <p:ph type="dt" sz="half" idx="10"/>
          </p:nvPr>
        </p:nvSpPr>
        <p:spPr/>
        <p:txBody>
          <a:bodyPr/>
          <a:lstStyle/>
          <a:p>
            <a:fld id="{AFE17FBC-4B28-415C-A976-697335E0486B}" type="datetimeFigureOut">
              <a:rPr lang="it-IT" smtClean="0"/>
              <a:t>18/06/2025</a:t>
            </a:fld>
            <a:endParaRPr lang="it-IT"/>
          </a:p>
        </p:txBody>
      </p:sp>
      <p:sp>
        <p:nvSpPr>
          <p:cNvPr id="6" name="Segnaposto piè di pagina 5">
            <a:extLst>
              <a:ext uri="{FF2B5EF4-FFF2-40B4-BE49-F238E27FC236}">
                <a16:creationId xmlns:a16="http://schemas.microsoft.com/office/drawing/2014/main" id="{A59EF0FC-AFCE-4826-9847-37FEC471AE1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18164C0-554B-70B9-F48F-2A16BF04F05D}"/>
              </a:ext>
            </a:extLst>
          </p:cNvPr>
          <p:cNvSpPr>
            <a:spLocks noGrp="1"/>
          </p:cNvSpPr>
          <p:nvPr>
            <p:ph type="sldNum" sz="quarter" idx="12"/>
          </p:nvPr>
        </p:nvSpPr>
        <p:spPr/>
        <p:txBody>
          <a:bodyPr/>
          <a:lstStyle/>
          <a:p>
            <a:fld id="{879F52EE-ACF0-46C2-93E4-FD99134A8A6C}" type="slidenum">
              <a:rPr lang="it-IT" smtClean="0"/>
              <a:t>‹N›</a:t>
            </a:fld>
            <a:endParaRPr lang="it-IT"/>
          </a:p>
        </p:txBody>
      </p:sp>
    </p:spTree>
    <p:extLst>
      <p:ext uri="{BB962C8B-B14F-4D97-AF65-F5344CB8AC3E}">
        <p14:creationId xmlns:p14="http://schemas.microsoft.com/office/powerpoint/2010/main" val="1595450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380B3D6-4ABE-F7B6-6553-B75F2656ED63}"/>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D9D95D4-FA16-2C22-2EDC-126E72D40217}"/>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850AA3D-D1B8-0512-9801-7F91560139B2}"/>
              </a:ext>
            </a:extLst>
          </p:cNvPr>
          <p:cNvSpPr>
            <a:spLocks noGrp="1"/>
          </p:cNvSpPr>
          <p:nvPr>
            <p:ph type="dt" sz="half" idx="10"/>
          </p:nvPr>
        </p:nvSpPr>
        <p:spPr/>
        <p:txBody>
          <a:bodyPr/>
          <a:lstStyle/>
          <a:p>
            <a:fld id="{AFE17FBC-4B28-415C-A976-697335E0486B}" type="datetimeFigureOut">
              <a:rPr lang="it-IT" smtClean="0"/>
              <a:t>18/06/2025</a:t>
            </a:fld>
            <a:endParaRPr lang="it-IT"/>
          </a:p>
        </p:txBody>
      </p:sp>
      <p:sp>
        <p:nvSpPr>
          <p:cNvPr id="5" name="Segnaposto piè di pagina 4">
            <a:extLst>
              <a:ext uri="{FF2B5EF4-FFF2-40B4-BE49-F238E27FC236}">
                <a16:creationId xmlns:a16="http://schemas.microsoft.com/office/drawing/2014/main" id="{16FD1150-482B-AC4D-49D5-452F702F758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D207529-90E4-3E09-5AFB-73C333C8A1A7}"/>
              </a:ext>
            </a:extLst>
          </p:cNvPr>
          <p:cNvSpPr>
            <a:spLocks noGrp="1"/>
          </p:cNvSpPr>
          <p:nvPr>
            <p:ph type="sldNum" sz="quarter" idx="12"/>
          </p:nvPr>
        </p:nvSpPr>
        <p:spPr/>
        <p:txBody>
          <a:bodyPr/>
          <a:lstStyle/>
          <a:p>
            <a:fld id="{879F52EE-ACF0-46C2-93E4-FD99134A8A6C}" type="slidenum">
              <a:rPr lang="it-IT" smtClean="0"/>
              <a:t>‹N›</a:t>
            </a:fld>
            <a:endParaRPr lang="it-IT"/>
          </a:p>
        </p:txBody>
      </p:sp>
    </p:spTree>
    <p:extLst>
      <p:ext uri="{BB962C8B-B14F-4D97-AF65-F5344CB8AC3E}">
        <p14:creationId xmlns:p14="http://schemas.microsoft.com/office/powerpoint/2010/main" val="230785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5E796CF0-7618-FC83-7437-268D71A7B43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A356699C-0E5B-82AC-55AF-D088693EF055}"/>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6E5AAFE-7200-5A68-6091-6051448AB33E}"/>
              </a:ext>
            </a:extLst>
          </p:cNvPr>
          <p:cNvSpPr>
            <a:spLocks noGrp="1"/>
          </p:cNvSpPr>
          <p:nvPr>
            <p:ph type="dt" sz="half" idx="10"/>
          </p:nvPr>
        </p:nvSpPr>
        <p:spPr/>
        <p:txBody>
          <a:bodyPr/>
          <a:lstStyle/>
          <a:p>
            <a:fld id="{AFE17FBC-4B28-415C-A976-697335E0486B}" type="datetimeFigureOut">
              <a:rPr lang="it-IT" smtClean="0"/>
              <a:t>18/06/2025</a:t>
            </a:fld>
            <a:endParaRPr lang="it-IT"/>
          </a:p>
        </p:txBody>
      </p:sp>
      <p:sp>
        <p:nvSpPr>
          <p:cNvPr id="5" name="Segnaposto piè di pagina 4">
            <a:extLst>
              <a:ext uri="{FF2B5EF4-FFF2-40B4-BE49-F238E27FC236}">
                <a16:creationId xmlns:a16="http://schemas.microsoft.com/office/drawing/2014/main" id="{C2DE04E2-567B-6F9F-266D-7C5B1A46FD4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D5BCF33-B930-6619-9B57-6D31EA4AE83A}"/>
              </a:ext>
            </a:extLst>
          </p:cNvPr>
          <p:cNvSpPr>
            <a:spLocks noGrp="1"/>
          </p:cNvSpPr>
          <p:nvPr>
            <p:ph type="sldNum" sz="quarter" idx="12"/>
          </p:nvPr>
        </p:nvSpPr>
        <p:spPr/>
        <p:txBody>
          <a:bodyPr/>
          <a:lstStyle/>
          <a:p>
            <a:fld id="{879F52EE-ACF0-46C2-93E4-FD99134A8A6C}" type="slidenum">
              <a:rPr lang="it-IT" smtClean="0"/>
              <a:t>‹N›</a:t>
            </a:fld>
            <a:endParaRPr lang="it-IT"/>
          </a:p>
        </p:txBody>
      </p:sp>
    </p:spTree>
    <p:extLst>
      <p:ext uri="{BB962C8B-B14F-4D97-AF65-F5344CB8AC3E}">
        <p14:creationId xmlns:p14="http://schemas.microsoft.com/office/powerpoint/2010/main" val="4192711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C4A7AF4F-719B-221C-ABC8-083595D297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B3852009-0747-9320-1F52-4A008C0B8F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A89DBE4-BBAD-E5FC-C0C8-6A0C61E7C7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E17FBC-4B28-415C-A976-697335E0486B}" type="datetimeFigureOut">
              <a:rPr lang="it-IT" smtClean="0"/>
              <a:t>18/06/2025</a:t>
            </a:fld>
            <a:endParaRPr lang="it-IT"/>
          </a:p>
        </p:txBody>
      </p:sp>
      <p:sp>
        <p:nvSpPr>
          <p:cNvPr id="5" name="Segnaposto piè di pagina 4">
            <a:extLst>
              <a:ext uri="{FF2B5EF4-FFF2-40B4-BE49-F238E27FC236}">
                <a16:creationId xmlns:a16="http://schemas.microsoft.com/office/drawing/2014/main" id="{B37ABBF9-39BF-E751-DD4C-542C502C1E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BB44172F-0D03-83BC-9E26-D572622B0B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9F52EE-ACF0-46C2-93E4-FD99134A8A6C}" type="slidenum">
              <a:rPr lang="it-IT" smtClean="0"/>
              <a:t>‹N›</a:t>
            </a:fld>
            <a:endParaRPr lang="it-IT"/>
          </a:p>
        </p:txBody>
      </p:sp>
    </p:spTree>
    <p:extLst>
      <p:ext uri="{BB962C8B-B14F-4D97-AF65-F5344CB8AC3E}">
        <p14:creationId xmlns:p14="http://schemas.microsoft.com/office/powerpoint/2010/main" val="4277814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ollama/ollama" TargetMode="External"/><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hyperlink" Target="mailto:conti.daniele.220406@gmail.com" TargetMode="External"/><Relationship Id="rId3" Type="http://schemas.openxmlformats.org/officeDocument/2006/relationships/hyperlink" Target="https://chatgpt.com/share/6852a762-4ba4-8010-9a2f-5ff7c25caf89" TargetMode="External"/><Relationship Id="rId7" Type="http://schemas.openxmlformats.org/officeDocument/2006/relationships/hyperlink" Target="https://chatgpt.com/share/6852a7ef-0194-8010-8002-e8ba1564d1e6" TargetMode="External"/><Relationship Id="rId2" Type="http://schemas.openxmlformats.org/officeDocument/2006/relationships/hyperlink" Target="https://chatgpt.com/share/6852a6e4-0600-8010-889d-9f10575f0b9a" TargetMode="External"/><Relationship Id="rId1" Type="http://schemas.openxmlformats.org/officeDocument/2006/relationships/slideLayout" Target="../slideLayouts/slideLayout7.xml"/><Relationship Id="rId6" Type="http://schemas.openxmlformats.org/officeDocument/2006/relationships/hyperlink" Target="https://chatgpt.com/share/6852a7d1-2dd0-8010-aee7-be47c9ba25b4" TargetMode="External"/><Relationship Id="rId5" Type="http://schemas.openxmlformats.org/officeDocument/2006/relationships/hyperlink" Target="https://chatgpt.com/share/6852a7b0-5f8c-8010-975f-c68e0bc8198d" TargetMode="External"/><Relationship Id="rId4" Type="http://schemas.openxmlformats.org/officeDocument/2006/relationships/hyperlink" Target="https://chatgpt.com/share/6852a785-7c58-8010-8b66-d11b6dbbccb4"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mailto:conti.daniele.220406@gmail.com"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magine 19">
            <a:extLst>
              <a:ext uri="{FF2B5EF4-FFF2-40B4-BE49-F238E27FC236}">
                <a16:creationId xmlns:a16="http://schemas.microsoft.com/office/drawing/2014/main" id="{D6A5C70F-6B63-6F0A-5E50-2EDF628CFB0B}"/>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220" y="382555"/>
            <a:ext cx="12185780" cy="6092890"/>
          </a:xfrm>
          <a:prstGeom prst="rect">
            <a:avLst/>
          </a:prstGeom>
        </p:spPr>
      </p:pic>
      <p:sp>
        <p:nvSpPr>
          <p:cNvPr id="8" name="Rettangolo con angoli arrotondati 7">
            <a:extLst>
              <a:ext uri="{FF2B5EF4-FFF2-40B4-BE49-F238E27FC236}">
                <a16:creationId xmlns:a16="http://schemas.microsoft.com/office/drawing/2014/main" id="{4E1560ED-2D4A-217C-B79D-C4A8528C0CD4}"/>
              </a:ext>
            </a:extLst>
          </p:cNvPr>
          <p:cNvSpPr/>
          <p:nvPr/>
        </p:nvSpPr>
        <p:spPr>
          <a:xfrm>
            <a:off x="870857" y="1996750"/>
            <a:ext cx="10450286" cy="219269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it-IT"/>
          </a:p>
        </p:txBody>
      </p:sp>
      <p:sp>
        <p:nvSpPr>
          <p:cNvPr id="13" name="Rettangolo 12">
            <a:extLst>
              <a:ext uri="{FF2B5EF4-FFF2-40B4-BE49-F238E27FC236}">
                <a16:creationId xmlns:a16="http://schemas.microsoft.com/office/drawing/2014/main" id="{C5C1E5A8-7E42-3889-0188-C3572A8915E2}"/>
              </a:ext>
            </a:extLst>
          </p:cNvPr>
          <p:cNvSpPr/>
          <p:nvPr/>
        </p:nvSpPr>
        <p:spPr>
          <a:xfrm>
            <a:off x="0" y="6211669"/>
            <a:ext cx="4655976" cy="64633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it-IT"/>
          </a:p>
        </p:txBody>
      </p:sp>
      <p:sp>
        <p:nvSpPr>
          <p:cNvPr id="5" name="CasellaDiTesto 4">
            <a:extLst>
              <a:ext uri="{FF2B5EF4-FFF2-40B4-BE49-F238E27FC236}">
                <a16:creationId xmlns:a16="http://schemas.microsoft.com/office/drawing/2014/main" id="{FE042035-62A5-58DF-A222-B4B8F97975F4}"/>
              </a:ext>
            </a:extLst>
          </p:cNvPr>
          <p:cNvSpPr txBox="1"/>
          <p:nvPr/>
        </p:nvSpPr>
        <p:spPr>
          <a:xfrm>
            <a:off x="0" y="6211669"/>
            <a:ext cx="5122506" cy="646331"/>
          </a:xfrm>
          <a:prstGeom prst="rect">
            <a:avLst/>
          </a:prstGeom>
          <a:noFill/>
        </p:spPr>
        <p:txBody>
          <a:bodyPr wrap="square" rtlCol="0">
            <a:spAutoFit/>
          </a:bodyPr>
          <a:lstStyle/>
          <a:p>
            <a:r>
              <a:rPr lang="it-IT" dirty="0"/>
              <a:t>Progetto realizzato da: </a:t>
            </a:r>
            <a:r>
              <a:rPr lang="it-IT" b="1" dirty="0"/>
              <a:t>Daniele Conti </a:t>
            </a:r>
            <a:r>
              <a:rPr lang="it-IT" dirty="0"/>
              <a:t>– UNICT </a:t>
            </a:r>
          </a:p>
          <a:p>
            <a:r>
              <a:rPr lang="it-IT" dirty="0"/>
              <a:t>Matricola: 1000075717</a:t>
            </a:r>
          </a:p>
        </p:txBody>
      </p:sp>
      <p:sp>
        <p:nvSpPr>
          <p:cNvPr id="7" name="CasellaDiTesto 6">
            <a:extLst>
              <a:ext uri="{FF2B5EF4-FFF2-40B4-BE49-F238E27FC236}">
                <a16:creationId xmlns:a16="http://schemas.microsoft.com/office/drawing/2014/main" id="{1D69DE8B-AB64-23C3-1CA6-3A0BC102F5E7}"/>
              </a:ext>
            </a:extLst>
          </p:cNvPr>
          <p:cNvSpPr txBox="1"/>
          <p:nvPr/>
        </p:nvSpPr>
        <p:spPr>
          <a:xfrm>
            <a:off x="870857" y="2128264"/>
            <a:ext cx="10450286" cy="1938992"/>
          </a:xfrm>
          <a:prstGeom prst="rect">
            <a:avLst/>
          </a:prstGeom>
          <a:noFill/>
        </p:spPr>
        <p:txBody>
          <a:bodyPr wrap="square" rtlCol="0">
            <a:spAutoFit/>
          </a:bodyPr>
          <a:lstStyle/>
          <a:p>
            <a:pPr algn="ctr"/>
            <a:r>
              <a:rPr lang="it-IT" sz="6000" dirty="0">
                <a:ln>
                  <a:solidFill>
                    <a:schemeClr val="tx1"/>
                  </a:solidFill>
                </a:ln>
              </a:rPr>
              <a:t>AI Tool per il Brainstorming Collaborativo</a:t>
            </a:r>
          </a:p>
        </p:txBody>
      </p:sp>
      <p:pic>
        <p:nvPicPr>
          <p:cNvPr id="10" name="Elemento grafico 9" descr="Social network">
            <a:extLst>
              <a:ext uri="{FF2B5EF4-FFF2-40B4-BE49-F238E27FC236}">
                <a16:creationId xmlns:a16="http://schemas.microsoft.com/office/drawing/2014/main" id="{8B3FFE7B-CF51-5E57-A5AF-98B71A0FAF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4955" y="645366"/>
            <a:ext cx="914400" cy="914400"/>
          </a:xfrm>
          <a:prstGeom prst="rect">
            <a:avLst/>
          </a:prstGeom>
        </p:spPr>
      </p:pic>
      <p:pic>
        <p:nvPicPr>
          <p:cNvPr id="12" name="Elemento grafico 11" descr="Internet">
            <a:extLst>
              <a:ext uri="{FF2B5EF4-FFF2-40B4-BE49-F238E27FC236}">
                <a16:creationId xmlns:a16="http://schemas.microsoft.com/office/drawing/2014/main" id="{A0AF461D-2219-EB52-62BC-190A78F0C87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84025" y="4828592"/>
            <a:ext cx="914400" cy="914400"/>
          </a:xfrm>
          <a:prstGeom prst="rect">
            <a:avLst/>
          </a:prstGeom>
        </p:spPr>
      </p:pic>
      <p:cxnSp>
        <p:nvCxnSpPr>
          <p:cNvPr id="15" name="Connettore diritto 14">
            <a:extLst>
              <a:ext uri="{FF2B5EF4-FFF2-40B4-BE49-F238E27FC236}">
                <a16:creationId xmlns:a16="http://schemas.microsoft.com/office/drawing/2014/main" id="{8631FBC4-F56C-A07D-B9D9-4E21DA6121DB}"/>
              </a:ext>
            </a:extLst>
          </p:cNvPr>
          <p:cNvCxnSpPr/>
          <p:nvPr/>
        </p:nvCxnSpPr>
        <p:spPr>
          <a:xfrm>
            <a:off x="0" y="0"/>
            <a:ext cx="12192000" cy="199675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Connettore diritto 15">
            <a:extLst>
              <a:ext uri="{FF2B5EF4-FFF2-40B4-BE49-F238E27FC236}">
                <a16:creationId xmlns:a16="http://schemas.microsoft.com/office/drawing/2014/main" id="{4499B63A-6E4C-9D45-D53A-70575571A13B}"/>
              </a:ext>
            </a:extLst>
          </p:cNvPr>
          <p:cNvCxnSpPr/>
          <p:nvPr/>
        </p:nvCxnSpPr>
        <p:spPr>
          <a:xfrm>
            <a:off x="0" y="4609323"/>
            <a:ext cx="12192000" cy="199675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8" name="Elemento grafico 17" descr="Testa con ingranaggi">
            <a:extLst>
              <a:ext uri="{FF2B5EF4-FFF2-40B4-BE49-F238E27FC236}">
                <a16:creationId xmlns:a16="http://schemas.microsoft.com/office/drawing/2014/main" id="{5BADF99F-780D-3D7B-A457-8FB90AC4CC7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85445" y="415211"/>
            <a:ext cx="914400" cy="914400"/>
          </a:xfrm>
          <a:prstGeom prst="rect">
            <a:avLst/>
          </a:prstGeom>
        </p:spPr>
      </p:pic>
      <p:sp>
        <p:nvSpPr>
          <p:cNvPr id="19" name="AutoShape 2" descr="Un Design Giocoso E Moderno Con Un Assortimento Di Forme Geometriche, Forme  Geometriche, Geometrico, Motivo Geometrico Immagine di sfondo per il  download gratuito">
            <a:extLst>
              <a:ext uri="{FF2B5EF4-FFF2-40B4-BE49-F238E27FC236}">
                <a16:creationId xmlns:a16="http://schemas.microsoft.com/office/drawing/2014/main" id="{26C21B05-911D-FE86-3BD3-2A5224D320D1}"/>
              </a:ext>
            </a:extLst>
          </p:cNvPr>
          <p:cNvSpPr>
            <a:spLocks noChangeAspect="1" noChangeArrowheads="1"/>
          </p:cNvSpPr>
          <p:nvPr/>
        </p:nvSpPr>
        <p:spPr bwMode="auto">
          <a:xfrm>
            <a:off x="2230016" y="3276600"/>
            <a:ext cx="4018384" cy="401838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spTree>
    <p:extLst>
      <p:ext uri="{BB962C8B-B14F-4D97-AF65-F5344CB8AC3E}">
        <p14:creationId xmlns:p14="http://schemas.microsoft.com/office/powerpoint/2010/main" val="2306457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26B837F4-1182-0FE4-10C1-DD6C1F59151A}"/>
              </a:ext>
            </a:extLst>
          </p:cNvPr>
          <p:cNvSpPr/>
          <p:nvPr/>
        </p:nvSpPr>
        <p:spPr>
          <a:xfrm>
            <a:off x="0" y="0"/>
            <a:ext cx="12192000" cy="110101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it-IT"/>
          </a:p>
        </p:txBody>
      </p:sp>
      <p:sp>
        <p:nvSpPr>
          <p:cNvPr id="4" name="CasellaDiTesto 3">
            <a:extLst>
              <a:ext uri="{FF2B5EF4-FFF2-40B4-BE49-F238E27FC236}">
                <a16:creationId xmlns:a16="http://schemas.microsoft.com/office/drawing/2014/main" id="{C88FC6E0-8467-B76E-45B8-F592A2FFAAB4}"/>
              </a:ext>
            </a:extLst>
          </p:cNvPr>
          <p:cNvSpPr txBox="1"/>
          <p:nvPr/>
        </p:nvSpPr>
        <p:spPr>
          <a:xfrm>
            <a:off x="-2" y="121300"/>
            <a:ext cx="12192002" cy="1323439"/>
          </a:xfrm>
          <a:prstGeom prst="rect">
            <a:avLst/>
          </a:prstGeom>
          <a:noFill/>
        </p:spPr>
        <p:txBody>
          <a:bodyPr wrap="square" rtlCol="0">
            <a:spAutoFit/>
          </a:bodyPr>
          <a:lstStyle/>
          <a:p>
            <a:pPr algn="ctr"/>
            <a:r>
              <a:rPr lang="it-IT" sz="4000" b="0" dirty="0">
                <a:solidFill>
                  <a:srgbClr val="CE9178"/>
                </a:solidFill>
                <a:effectLst/>
                <a:latin typeface="Consolas" panose="020B0609020204030204" pitchFamily="49" charset="0"/>
              </a:rPr>
              <a:t>⚠️ </a:t>
            </a:r>
            <a:r>
              <a:rPr lang="it-IT" sz="4000" b="1" u="sng" dirty="0"/>
              <a:t>DISCLAIMER</a:t>
            </a:r>
            <a:r>
              <a:rPr lang="it-IT" sz="4000" dirty="0"/>
              <a:t>  </a:t>
            </a:r>
            <a:r>
              <a:rPr lang="it-IT" sz="4000" b="0" dirty="0">
                <a:solidFill>
                  <a:srgbClr val="CE9178"/>
                </a:solidFill>
                <a:effectLst/>
                <a:latin typeface="Consolas" panose="020B0609020204030204" pitchFamily="49" charset="0"/>
              </a:rPr>
              <a:t>⚠️</a:t>
            </a:r>
            <a:endParaRPr lang="it-IT" sz="4000" b="0" dirty="0">
              <a:solidFill>
                <a:srgbClr val="CCCCCC"/>
              </a:solidFill>
              <a:effectLst/>
              <a:latin typeface="Consolas" panose="020B0609020204030204" pitchFamily="49" charset="0"/>
            </a:endParaRPr>
          </a:p>
          <a:p>
            <a:pPr algn="ctr"/>
            <a:endParaRPr lang="it-IT" sz="4000" dirty="0"/>
          </a:p>
        </p:txBody>
      </p:sp>
      <p:sp>
        <p:nvSpPr>
          <p:cNvPr id="5" name="CasellaDiTesto 4">
            <a:extLst>
              <a:ext uri="{FF2B5EF4-FFF2-40B4-BE49-F238E27FC236}">
                <a16:creationId xmlns:a16="http://schemas.microsoft.com/office/drawing/2014/main" id="{A4C83669-AFFC-4FBA-F14E-E15C2E8B65FC}"/>
              </a:ext>
            </a:extLst>
          </p:cNvPr>
          <p:cNvSpPr txBox="1"/>
          <p:nvPr/>
        </p:nvSpPr>
        <p:spPr>
          <a:xfrm>
            <a:off x="-2" y="1202409"/>
            <a:ext cx="12192002" cy="5355312"/>
          </a:xfrm>
          <a:prstGeom prst="rect">
            <a:avLst/>
          </a:prstGeom>
          <a:noFill/>
        </p:spPr>
        <p:txBody>
          <a:bodyPr wrap="square" rtlCol="0">
            <a:spAutoFit/>
          </a:bodyPr>
          <a:lstStyle/>
          <a:p>
            <a:pPr marL="285750" indent="-285750">
              <a:buFontTx/>
              <a:buChar char="-"/>
            </a:pPr>
            <a:r>
              <a:rPr lang="it-IT" dirty="0"/>
              <a:t>Sono uno studente di primo anno che non ha </a:t>
            </a:r>
            <a:r>
              <a:rPr lang="it-IT" b="1" dirty="0"/>
              <a:t>mai usato Python</a:t>
            </a:r>
            <a:r>
              <a:rPr lang="it-IT" dirty="0"/>
              <a:t>; ho dovuto fare necessariamente ricorso a tanto </a:t>
            </a:r>
            <a:r>
              <a:rPr lang="it-IT" b="1" dirty="0" err="1"/>
              <a:t>vibe</a:t>
            </a:r>
            <a:r>
              <a:rPr lang="it-IT" b="1" dirty="0"/>
              <a:t> coding </a:t>
            </a:r>
            <a:r>
              <a:rPr lang="it-IT" dirty="0"/>
              <a:t>(Ovviamente non ho realizzato l’intero progetto con questa modalità, penso intorno all’80%). </a:t>
            </a:r>
            <a:r>
              <a:rPr lang="it-IT" b="0" i="0" dirty="0">
                <a:solidFill>
                  <a:srgbClr val="474747"/>
                </a:solidFill>
                <a:effectLst/>
                <a:latin typeface="Arial" panose="020B0604020202020204" pitchFamily="34" charset="0"/>
              </a:rPr>
              <a:t>💻</a:t>
            </a:r>
            <a:endParaRPr lang="it-IT" dirty="0"/>
          </a:p>
          <a:p>
            <a:pPr marL="285750" indent="-285750">
              <a:buFontTx/>
              <a:buChar char="-"/>
            </a:pPr>
            <a:endParaRPr lang="it-IT" dirty="0"/>
          </a:p>
          <a:p>
            <a:pPr marL="285750" indent="-285750">
              <a:buFontTx/>
              <a:buChar char="-"/>
            </a:pPr>
            <a:r>
              <a:rPr lang="it-IT" dirty="0"/>
              <a:t>Sono consapevole che la consegna del mio progetto è «prematura» rispetto alla data limite prestabilita, ma ho deciso di </a:t>
            </a:r>
            <a:r>
              <a:rPr lang="it-IT" b="1" dirty="0"/>
              <a:t>lavorare giorno e notte per circa 5 giorni di fila </a:t>
            </a:r>
            <a:r>
              <a:rPr lang="it-IT" dirty="0"/>
              <a:t>a questo progetto perché altrimenti sarei stato impossibilitato dalla sessione esami estiva (per me sarebbe dalla seconda metà di giugno alla prima metà di luglio).</a:t>
            </a:r>
            <a:r>
              <a:rPr lang="it-IT" b="0" i="0" dirty="0">
                <a:solidFill>
                  <a:srgbClr val="474747"/>
                </a:solidFill>
                <a:effectLst/>
                <a:latin typeface="Arial" panose="020B0604020202020204" pitchFamily="34" charset="0"/>
              </a:rPr>
              <a:t> 📚</a:t>
            </a:r>
            <a:endParaRPr lang="it-IT" dirty="0"/>
          </a:p>
          <a:p>
            <a:pPr marL="285750" indent="-285750">
              <a:buFontTx/>
              <a:buChar char="-"/>
            </a:pPr>
            <a:endParaRPr lang="it-IT" dirty="0"/>
          </a:p>
          <a:p>
            <a:pPr marL="285750" indent="-285750">
              <a:buFontTx/>
              <a:buChar char="-"/>
            </a:pPr>
            <a:r>
              <a:rPr lang="it-IT" dirty="0"/>
              <a:t>Nonostante le difficoltà che ho riscontrato durante la realizzazione del mio progetto all’inizio, con il tempo e con vari «</a:t>
            </a:r>
            <a:r>
              <a:rPr lang="it-IT" b="1" dirty="0"/>
              <a:t>trial and </a:t>
            </a:r>
            <a:r>
              <a:rPr lang="it-IT" b="1" dirty="0" err="1"/>
              <a:t>error</a:t>
            </a:r>
            <a:r>
              <a:rPr lang="it-IT" dirty="0"/>
              <a:t>» mi è venuto veloce capire dove fossero eventuali problemi e in alcuni casi a correggere il mio codice senza necessariamente l’aiuto del </a:t>
            </a:r>
            <a:r>
              <a:rPr lang="it-IT" dirty="0" err="1"/>
              <a:t>vibe</a:t>
            </a:r>
            <a:r>
              <a:rPr lang="it-IT" dirty="0"/>
              <a:t> coding. </a:t>
            </a:r>
            <a:r>
              <a:rPr lang="it-IT" b="0" i="0" dirty="0">
                <a:solidFill>
                  <a:srgbClr val="474747"/>
                </a:solidFill>
                <a:effectLst/>
                <a:latin typeface="Arial" panose="020B0604020202020204" pitchFamily="34" charset="0"/>
              </a:rPr>
              <a:t>🐱‍💻</a:t>
            </a:r>
            <a:endParaRPr lang="it-IT" dirty="0"/>
          </a:p>
          <a:p>
            <a:pPr marL="285750" indent="-285750">
              <a:buFontTx/>
              <a:buChar char="-"/>
            </a:pPr>
            <a:endParaRPr lang="it-IT" dirty="0"/>
          </a:p>
          <a:p>
            <a:pPr marL="285750" indent="-285750">
              <a:buFontTx/>
              <a:buChar char="-"/>
            </a:pPr>
            <a:r>
              <a:rPr lang="it-IT" dirty="0"/>
              <a:t>Spero di essere il più chiaro possibile con le spiegazioni, mi scuso se quello che dico è un po’ confuso o difficile da capire.</a:t>
            </a:r>
            <a:r>
              <a:rPr lang="it-IT" b="0" i="0" dirty="0">
                <a:solidFill>
                  <a:srgbClr val="474747"/>
                </a:solidFill>
                <a:effectLst/>
                <a:latin typeface="Google Sans"/>
              </a:rPr>
              <a:t>🙏</a:t>
            </a:r>
            <a:endParaRPr lang="it-IT" dirty="0"/>
          </a:p>
          <a:p>
            <a:pPr marL="285750" indent="-285750">
              <a:buFontTx/>
              <a:buChar char="-"/>
            </a:pPr>
            <a:endParaRPr lang="it-IT" b="0" i="0" dirty="0">
              <a:solidFill>
                <a:srgbClr val="474747"/>
              </a:solidFill>
              <a:effectLst/>
              <a:latin typeface="Google Sans"/>
            </a:endParaRPr>
          </a:p>
          <a:p>
            <a:pPr marL="285750" indent="-285750">
              <a:buFontTx/>
              <a:buChar char="-"/>
            </a:pPr>
            <a:r>
              <a:rPr lang="it-IT" dirty="0"/>
              <a:t>Avendo usato il modello in locale di </a:t>
            </a:r>
            <a:r>
              <a:rPr lang="it-IT" b="1" dirty="0"/>
              <a:t>gemma3:1b (817Mb)</a:t>
            </a:r>
            <a:r>
              <a:rPr lang="it-IT" dirty="0"/>
              <a:t> la prestazione e «intelligenza» degli agenti AI </a:t>
            </a:r>
            <a:r>
              <a:rPr lang="it-IT" b="1" dirty="0"/>
              <a:t>non è delle migliori</a:t>
            </a:r>
            <a:r>
              <a:rPr lang="it-IT" dirty="0"/>
              <a:t>, ma ho dovuto usare questo modello per motivi di hardware. </a:t>
            </a:r>
            <a:r>
              <a:rPr lang="it-IT" b="0" i="0" dirty="0">
                <a:solidFill>
                  <a:srgbClr val="474747"/>
                </a:solidFill>
                <a:effectLst/>
                <a:latin typeface="Arial" panose="020B0604020202020204" pitchFamily="34" charset="0"/>
              </a:rPr>
              <a:t>😕</a:t>
            </a:r>
            <a:endParaRPr lang="it-IT" b="0" i="0" dirty="0">
              <a:effectLst/>
            </a:endParaRPr>
          </a:p>
          <a:p>
            <a:pPr marL="285750" indent="-285750">
              <a:buFontTx/>
              <a:buChar char="-"/>
            </a:pPr>
            <a:endParaRPr lang="it-IT" dirty="0"/>
          </a:p>
          <a:p>
            <a:pPr marL="285750" indent="-285750">
              <a:buFontTx/>
              <a:buChar char="-"/>
            </a:pPr>
            <a:r>
              <a:rPr lang="it-IT" dirty="0"/>
              <a:t>Mi è piaciuta molto questa serie di seminari, </a:t>
            </a:r>
            <a:r>
              <a:rPr lang="it-IT" b="1" dirty="0"/>
              <a:t>ho imparato tantissime cose che prima non conoscevo affatto</a:t>
            </a:r>
            <a:r>
              <a:rPr lang="it-IT" dirty="0"/>
              <a:t> e che sono certo mi serviranno da aiuto anche in futuro sia per quanto riguarda la carriera universitaria prima ma anche per quanto riguarda il mondo del lavoro dopo. </a:t>
            </a:r>
            <a:r>
              <a:rPr lang="it-IT" b="0" i="0" dirty="0">
                <a:solidFill>
                  <a:srgbClr val="474747"/>
                </a:solidFill>
                <a:effectLst/>
                <a:latin typeface="Arial" panose="020B0604020202020204" pitchFamily="34" charset="0"/>
              </a:rPr>
              <a:t>👍</a:t>
            </a:r>
            <a:endParaRPr lang="it-IT" dirty="0"/>
          </a:p>
        </p:txBody>
      </p:sp>
    </p:spTree>
    <p:extLst>
      <p:ext uri="{BB962C8B-B14F-4D97-AF65-F5344CB8AC3E}">
        <p14:creationId xmlns:p14="http://schemas.microsoft.com/office/powerpoint/2010/main" val="4254167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68231104-71A3-1EFD-383A-440FFA47C3DF}"/>
              </a:ext>
            </a:extLst>
          </p:cNvPr>
          <p:cNvSpPr/>
          <p:nvPr/>
        </p:nvSpPr>
        <p:spPr>
          <a:xfrm>
            <a:off x="0" y="0"/>
            <a:ext cx="12192000" cy="110101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it-IT"/>
          </a:p>
        </p:txBody>
      </p:sp>
      <p:sp>
        <p:nvSpPr>
          <p:cNvPr id="2" name="CasellaDiTesto 1">
            <a:extLst>
              <a:ext uri="{FF2B5EF4-FFF2-40B4-BE49-F238E27FC236}">
                <a16:creationId xmlns:a16="http://schemas.microsoft.com/office/drawing/2014/main" id="{6F25E092-D516-7FF2-F583-82762135F294}"/>
              </a:ext>
            </a:extLst>
          </p:cNvPr>
          <p:cNvSpPr txBox="1"/>
          <p:nvPr/>
        </p:nvSpPr>
        <p:spPr>
          <a:xfrm>
            <a:off x="0" y="65315"/>
            <a:ext cx="12192000" cy="923330"/>
          </a:xfrm>
          <a:prstGeom prst="rect">
            <a:avLst/>
          </a:prstGeom>
          <a:noFill/>
        </p:spPr>
        <p:txBody>
          <a:bodyPr wrap="square" rtlCol="0">
            <a:spAutoFit/>
          </a:bodyPr>
          <a:lstStyle/>
          <a:p>
            <a:pPr algn="ctr"/>
            <a:r>
              <a:rPr lang="it-IT" sz="5400" dirty="0"/>
              <a:t>Impostazione dell’Ambiente Virtuale</a:t>
            </a:r>
          </a:p>
        </p:txBody>
      </p:sp>
      <p:sp>
        <p:nvSpPr>
          <p:cNvPr id="5" name="CasellaDiTesto 4">
            <a:extLst>
              <a:ext uri="{FF2B5EF4-FFF2-40B4-BE49-F238E27FC236}">
                <a16:creationId xmlns:a16="http://schemas.microsoft.com/office/drawing/2014/main" id="{293A9DEE-31CD-622E-146B-131A7FBB02D3}"/>
              </a:ext>
            </a:extLst>
          </p:cNvPr>
          <p:cNvSpPr txBox="1"/>
          <p:nvPr/>
        </p:nvSpPr>
        <p:spPr>
          <a:xfrm>
            <a:off x="-2" y="1239438"/>
            <a:ext cx="12192001" cy="369332"/>
          </a:xfrm>
          <a:prstGeom prst="rect">
            <a:avLst/>
          </a:prstGeom>
          <a:noFill/>
        </p:spPr>
        <p:txBody>
          <a:bodyPr wrap="square">
            <a:spAutoFit/>
          </a:bodyPr>
          <a:lstStyle/>
          <a:p>
            <a:pPr algn="ctr"/>
            <a:r>
              <a:rPr lang="it-IT" dirty="0"/>
              <a:t>Il mio portatile è </a:t>
            </a:r>
            <a:r>
              <a:rPr lang="it-IT" b="1" dirty="0"/>
              <a:t>Windows</a:t>
            </a:r>
            <a:r>
              <a:rPr lang="it-IT" dirty="0"/>
              <a:t>, ma per la realizzazione del progetto ho usato </a:t>
            </a:r>
            <a:r>
              <a:rPr lang="it-IT" b="1" dirty="0"/>
              <a:t>WSL</a:t>
            </a:r>
            <a:r>
              <a:rPr lang="it-IT" dirty="0"/>
              <a:t> (come ho sempre fatto per Programmazione)</a:t>
            </a:r>
          </a:p>
        </p:txBody>
      </p:sp>
      <p:pic>
        <p:nvPicPr>
          <p:cNvPr id="6" name="Immagine 5">
            <a:extLst>
              <a:ext uri="{FF2B5EF4-FFF2-40B4-BE49-F238E27FC236}">
                <a16:creationId xmlns:a16="http://schemas.microsoft.com/office/drawing/2014/main" id="{E4688314-23FF-516A-EC1A-8D08E84B49A6}"/>
              </a:ext>
            </a:extLst>
          </p:cNvPr>
          <p:cNvPicPr>
            <a:picLocks noChangeAspect="1"/>
          </p:cNvPicPr>
          <p:nvPr/>
        </p:nvPicPr>
        <p:blipFill>
          <a:blip r:embed="rId2"/>
          <a:stretch>
            <a:fillRect/>
          </a:stretch>
        </p:blipFill>
        <p:spPr>
          <a:xfrm>
            <a:off x="3140546" y="1641466"/>
            <a:ext cx="5094332" cy="1036134"/>
          </a:xfrm>
          <a:prstGeom prst="rect">
            <a:avLst/>
          </a:prstGeom>
        </p:spPr>
      </p:pic>
      <p:sp>
        <p:nvSpPr>
          <p:cNvPr id="8" name="CasellaDiTesto 7">
            <a:extLst>
              <a:ext uri="{FF2B5EF4-FFF2-40B4-BE49-F238E27FC236}">
                <a16:creationId xmlns:a16="http://schemas.microsoft.com/office/drawing/2014/main" id="{AC605AF6-6504-0FCF-9DBA-821353152EA7}"/>
              </a:ext>
            </a:extLst>
          </p:cNvPr>
          <p:cNvSpPr txBox="1"/>
          <p:nvPr/>
        </p:nvSpPr>
        <p:spPr>
          <a:xfrm>
            <a:off x="0" y="3157090"/>
            <a:ext cx="12191999" cy="369332"/>
          </a:xfrm>
          <a:prstGeom prst="rect">
            <a:avLst/>
          </a:prstGeom>
          <a:noFill/>
        </p:spPr>
        <p:txBody>
          <a:bodyPr wrap="square">
            <a:spAutoFit/>
          </a:bodyPr>
          <a:lstStyle/>
          <a:p>
            <a:pPr algn="ctr"/>
            <a:r>
              <a:rPr lang="it-IT" dirty="0"/>
              <a:t>Successivamente ho installato l’ultima versione di </a:t>
            </a:r>
            <a:r>
              <a:rPr lang="it-IT" b="1" dirty="0"/>
              <a:t>Python</a:t>
            </a:r>
            <a:r>
              <a:rPr lang="it-IT" dirty="0"/>
              <a:t>. Si può controllare la versione con il seguente comando:</a:t>
            </a:r>
          </a:p>
        </p:txBody>
      </p:sp>
      <p:pic>
        <p:nvPicPr>
          <p:cNvPr id="9" name="Immagine 8">
            <a:extLst>
              <a:ext uri="{FF2B5EF4-FFF2-40B4-BE49-F238E27FC236}">
                <a16:creationId xmlns:a16="http://schemas.microsoft.com/office/drawing/2014/main" id="{70A556D3-A546-8C7F-3B98-EE4C40323D45}"/>
              </a:ext>
            </a:extLst>
          </p:cNvPr>
          <p:cNvPicPr>
            <a:picLocks noChangeAspect="1"/>
          </p:cNvPicPr>
          <p:nvPr/>
        </p:nvPicPr>
        <p:blipFill>
          <a:blip r:embed="rId3"/>
          <a:stretch>
            <a:fillRect/>
          </a:stretch>
        </p:blipFill>
        <p:spPr>
          <a:xfrm>
            <a:off x="1774008" y="3567121"/>
            <a:ext cx="8550676" cy="661379"/>
          </a:xfrm>
          <a:prstGeom prst="rect">
            <a:avLst/>
          </a:prstGeom>
        </p:spPr>
      </p:pic>
      <p:sp>
        <p:nvSpPr>
          <p:cNvPr id="11" name="CasellaDiTesto 10">
            <a:extLst>
              <a:ext uri="{FF2B5EF4-FFF2-40B4-BE49-F238E27FC236}">
                <a16:creationId xmlns:a16="http://schemas.microsoft.com/office/drawing/2014/main" id="{E10B1B05-DF6B-1419-4F18-AB8AC7C5C176}"/>
              </a:ext>
            </a:extLst>
          </p:cNvPr>
          <p:cNvSpPr txBox="1"/>
          <p:nvPr/>
        </p:nvSpPr>
        <p:spPr>
          <a:xfrm>
            <a:off x="-1" y="4853674"/>
            <a:ext cx="12192000" cy="646331"/>
          </a:xfrm>
          <a:prstGeom prst="rect">
            <a:avLst/>
          </a:prstGeom>
          <a:noFill/>
        </p:spPr>
        <p:txBody>
          <a:bodyPr wrap="square">
            <a:spAutoFit/>
          </a:bodyPr>
          <a:lstStyle/>
          <a:p>
            <a:pPr algn="ctr"/>
            <a:r>
              <a:rPr lang="it-IT" dirty="0"/>
              <a:t>Ho creato nel mio </a:t>
            </a:r>
            <a:r>
              <a:rPr lang="it-IT" b="1" dirty="0"/>
              <a:t>Desktop</a:t>
            </a:r>
            <a:r>
              <a:rPr lang="it-IT" dirty="0"/>
              <a:t> una </a:t>
            </a:r>
            <a:r>
              <a:rPr lang="it-IT" b="1" dirty="0"/>
              <a:t>cartella intitolata «Project-</a:t>
            </a:r>
            <a:r>
              <a:rPr lang="it-IT" b="1" dirty="0" err="1"/>
              <a:t>Aitho</a:t>
            </a:r>
            <a:r>
              <a:rPr lang="it-IT" b="1" dirty="0"/>
              <a:t>» </a:t>
            </a:r>
            <a:r>
              <a:rPr lang="it-IT" dirty="0"/>
              <a:t>in cui ho creato il mio </a:t>
            </a:r>
            <a:r>
              <a:rPr lang="it-IT" b="1" dirty="0"/>
              <a:t>ambiente virtuale</a:t>
            </a:r>
            <a:r>
              <a:rPr lang="it-IT" dirty="0"/>
              <a:t> per la realizzazione del progetto. Quindi è necessario spostarci nella relativa directory:</a:t>
            </a:r>
          </a:p>
        </p:txBody>
      </p:sp>
      <p:pic>
        <p:nvPicPr>
          <p:cNvPr id="12" name="Immagine 11">
            <a:extLst>
              <a:ext uri="{FF2B5EF4-FFF2-40B4-BE49-F238E27FC236}">
                <a16:creationId xmlns:a16="http://schemas.microsoft.com/office/drawing/2014/main" id="{77F14C20-7337-1781-4D0E-773333E3D80C}"/>
              </a:ext>
            </a:extLst>
          </p:cNvPr>
          <p:cNvPicPr>
            <a:picLocks noChangeAspect="1"/>
          </p:cNvPicPr>
          <p:nvPr/>
        </p:nvPicPr>
        <p:blipFill>
          <a:blip r:embed="rId4"/>
          <a:stretch>
            <a:fillRect/>
          </a:stretch>
        </p:blipFill>
        <p:spPr>
          <a:xfrm>
            <a:off x="1676436" y="5509412"/>
            <a:ext cx="8022552" cy="936182"/>
          </a:xfrm>
          <a:prstGeom prst="rect">
            <a:avLst/>
          </a:prstGeom>
        </p:spPr>
      </p:pic>
      <p:sp>
        <p:nvSpPr>
          <p:cNvPr id="13" name="Freccia curva 12">
            <a:extLst>
              <a:ext uri="{FF2B5EF4-FFF2-40B4-BE49-F238E27FC236}">
                <a16:creationId xmlns:a16="http://schemas.microsoft.com/office/drawing/2014/main" id="{615E7922-746C-1D11-ADDC-1645CA9DA2CB}"/>
              </a:ext>
            </a:extLst>
          </p:cNvPr>
          <p:cNvSpPr/>
          <p:nvPr/>
        </p:nvSpPr>
        <p:spPr>
          <a:xfrm rot="3379641" flipV="1">
            <a:off x="2221341" y="2213369"/>
            <a:ext cx="1063690" cy="63263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4" name="Freccia curva 13">
            <a:extLst>
              <a:ext uri="{FF2B5EF4-FFF2-40B4-BE49-F238E27FC236}">
                <a16:creationId xmlns:a16="http://schemas.microsoft.com/office/drawing/2014/main" id="{39CDBC61-14B7-685E-E488-124E597B21FC}"/>
              </a:ext>
            </a:extLst>
          </p:cNvPr>
          <p:cNvSpPr/>
          <p:nvPr/>
        </p:nvSpPr>
        <p:spPr>
          <a:xfrm rot="3379641" flipV="1">
            <a:off x="777343" y="3916884"/>
            <a:ext cx="1063690" cy="63263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5" name="Freccia curva 14">
            <a:extLst>
              <a:ext uri="{FF2B5EF4-FFF2-40B4-BE49-F238E27FC236}">
                <a16:creationId xmlns:a16="http://schemas.microsoft.com/office/drawing/2014/main" id="{083BE8BA-D8E6-CDEE-EFF1-35499FAC5F3D}"/>
              </a:ext>
            </a:extLst>
          </p:cNvPr>
          <p:cNvSpPr/>
          <p:nvPr/>
        </p:nvSpPr>
        <p:spPr>
          <a:xfrm rot="3379641">
            <a:off x="10098509" y="5915861"/>
            <a:ext cx="1063690" cy="652282"/>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Tree>
    <p:extLst>
      <p:ext uri="{BB962C8B-B14F-4D97-AF65-F5344CB8AC3E}">
        <p14:creationId xmlns:p14="http://schemas.microsoft.com/office/powerpoint/2010/main" val="3384788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2597C6A0-3F6A-E067-BC2C-33A020386C4F}"/>
              </a:ext>
            </a:extLst>
          </p:cNvPr>
          <p:cNvSpPr txBox="1"/>
          <p:nvPr/>
        </p:nvSpPr>
        <p:spPr>
          <a:xfrm>
            <a:off x="0" y="1312837"/>
            <a:ext cx="12192000" cy="369332"/>
          </a:xfrm>
          <a:prstGeom prst="rect">
            <a:avLst/>
          </a:prstGeom>
          <a:noFill/>
        </p:spPr>
        <p:txBody>
          <a:bodyPr wrap="square" rtlCol="0">
            <a:spAutoFit/>
          </a:bodyPr>
          <a:lstStyle/>
          <a:p>
            <a:pPr algn="ctr"/>
            <a:r>
              <a:rPr lang="it-IT" dirty="0"/>
              <a:t>A questo punto ho </a:t>
            </a:r>
            <a:r>
              <a:rPr lang="it-IT" b="1" dirty="0"/>
              <a:t>creato l’ambiente virtuale</a:t>
            </a:r>
            <a:r>
              <a:rPr lang="it-IT" dirty="0"/>
              <a:t> con il comando:</a:t>
            </a:r>
          </a:p>
        </p:txBody>
      </p:sp>
      <p:pic>
        <p:nvPicPr>
          <p:cNvPr id="4" name="Immagine 3">
            <a:extLst>
              <a:ext uri="{FF2B5EF4-FFF2-40B4-BE49-F238E27FC236}">
                <a16:creationId xmlns:a16="http://schemas.microsoft.com/office/drawing/2014/main" id="{93D9F66B-5A12-69F6-7DCB-FA01FC2BBC55}"/>
              </a:ext>
            </a:extLst>
          </p:cNvPr>
          <p:cNvPicPr>
            <a:picLocks noChangeAspect="1"/>
          </p:cNvPicPr>
          <p:nvPr/>
        </p:nvPicPr>
        <p:blipFill>
          <a:blip r:embed="rId2"/>
          <a:stretch>
            <a:fillRect/>
          </a:stretch>
        </p:blipFill>
        <p:spPr>
          <a:xfrm>
            <a:off x="4264087" y="1682169"/>
            <a:ext cx="2901819" cy="702054"/>
          </a:xfrm>
          <a:prstGeom prst="rect">
            <a:avLst/>
          </a:prstGeom>
        </p:spPr>
      </p:pic>
      <p:sp>
        <p:nvSpPr>
          <p:cNvPr id="6" name="CasellaDiTesto 5">
            <a:extLst>
              <a:ext uri="{FF2B5EF4-FFF2-40B4-BE49-F238E27FC236}">
                <a16:creationId xmlns:a16="http://schemas.microsoft.com/office/drawing/2014/main" id="{F9C51A97-E3C0-0917-39CF-2F5A9007BFE2}"/>
              </a:ext>
            </a:extLst>
          </p:cNvPr>
          <p:cNvSpPr txBox="1"/>
          <p:nvPr/>
        </p:nvSpPr>
        <p:spPr>
          <a:xfrm>
            <a:off x="93306" y="2762584"/>
            <a:ext cx="12098694" cy="369332"/>
          </a:xfrm>
          <a:prstGeom prst="rect">
            <a:avLst/>
          </a:prstGeom>
          <a:noFill/>
        </p:spPr>
        <p:txBody>
          <a:bodyPr wrap="square" rtlCol="0">
            <a:spAutoFit/>
          </a:bodyPr>
          <a:lstStyle/>
          <a:p>
            <a:pPr algn="ctr"/>
            <a:r>
              <a:rPr lang="it-IT" dirty="0"/>
              <a:t>Di conseguenza, </a:t>
            </a:r>
            <a:r>
              <a:rPr lang="it-IT" b="1" dirty="0"/>
              <a:t>attivo l’ambiente virtuale</a:t>
            </a:r>
            <a:r>
              <a:rPr lang="it-IT" dirty="0"/>
              <a:t> tramite il comando:</a:t>
            </a:r>
          </a:p>
        </p:txBody>
      </p:sp>
      <p:pic>
        <p:nvPicPr>
          <p:cNvPr id="8" name="Immagine 7">
            <a:extLst>
              <a:ext uri="{FF2B5EF4-FFF2-40B4-BE49-F238E27FC236}">
                <a16:creationId xmlns:a16="http://schemas.microsoft.com/office/drawing/2014/main" id="{8B53DC44-8A6D-26F2-A49B-D30B91F32AA7}"/>
              </a:ext>
            </a:extLst>
          </p:cNvPr>
          <p:cNvPicPr>
            <a:picLocks noChangeAspect="1"/>
          </p:cNvPicPr>
          <p:nvPr/>
        </p:nvPicPr>
        <p:blipFill>
          <a:blip r:embed="rId3"/>
          <a:stretch>
            <a:fillRect/>
          </a:stretch>
        </p:blipFill>
        <p:spPr>
          <a:xfrm>
            <a:off x="1218393" y="3198208"/>
            <a:ext cx="9487731" cy="537257"/>
          </a:xfrm>
          <a:prstGeom prst="rect">
            <a:avLst/>
          </a:prstGeom>
        </p:spPr>
      </p:pic>
      <p:sp>
        <p:nvSpPr>
          <p:cNvPr id="9" name="CasellaDiTesto 8">
            <a:extLst>
              <a:ext uri="{FF2B5EF4-FFF2-40B4-BE49-F238E27FC236}">
                <a16:creationId xmlns:a16="http://schemas.microsoft.com/office/drawing/2014/main" id="{ACF636D5-211B-8D4A-D885-08F04526BC03}"/>
              </a:ext>
            </a:extLst>
          </p:cNvPr>
          <p:cNvSpPr txBox="1"/>
          <p:nvPr/>
        </p:nvSpPr>
        <p:spPr>
          <a:xfrm>
            <a:off x="3336503" y="4343045"/>
            <a:ext cx="10338318" cy="369332"/>
          </a:xfrm>
          <a:prstGeom prst="rect">
            <a:avLst/>
          </a:prstGeom>
          <a:noFill/>
        </p:spPr>
        <p:txBody>
          <a:bodyPr wrap="square" rtlCol="0">
            <a:spAutoFit/>
          </a:bodyPr>
          <a:lstStyle/>
          <a:p>
            <a:r>
              <a:rPr lang="it-IT" dirty="0"/>
              <a:t>Di seguito ho installato </a:t>
            </a:r>
            <a:r>
              <a:rPr lang="it-IT" b="1" dirty="0" err="1"/>
              <a:t>pydantic</a:t>
            </a:r>
            <a:r>
              <a:rPr lang="it-IT" dirty="0"/>
              <a:t>  con il comando:</a:t>
            </a:r>
          </a:p>
        </p:txBody>
      </p:sp>
      <p:pic>
        <p:nvPicPr>
          <p:cNvPr id="11" name="Immagine 10">
            <a:extLst>
              <a:ext uri="{FF2B5EF4-FFF2-40B4-BE49-F238E27FC236}">
                <a16:creationId xmlns:a16="http://schemas.microsoft.com/office/drawing/2014/main" id="{7724939D-656C-1B7A-FB38-7084AC8B9708}"/>
              </a:ext>
            </a:extLst>
          </p:cNvPr>
          <p:cNvPicPr>
            <a:picLocks noChangeAspect="1"/>
          </p:cNvPicPr>
          <p:nvPr/>
        </p:nvPicPr>
        <p:blipFill>
          <a:blip r:embed="rId4"/>
          <a:stretch>
            <a:fillRect/>
          </a:stretch>
        </p:blipFill>
        <p:spPr>
          <a:xfrm>
            <a:off x="4125898" y="4728445"/>
            <a:ext cx="2958126" cy="497384"/>
          </a:xfrm>
          <a:prstGeom prst="rect">
            <a:avLst/>
          </a:prstGeom>
        </p:spPr>
      </p:pic>
      <p:sp>
        <p:nvSpPr>
          <p:cNvPr id="12" name="CasellaDiTesto 11">
            <a:extLst>
              <a:ext uri="{FF2B5EF4-FFF2-40B4-BE49-F238E27FC236}">
                <a16:creationId xmlns:a16="http://schemas.microsoft.com/office/drawing/2014/main" id="{8729F33E-0453-D9DA-7FE2-7384ED0AFAD7}"/>
              </a:ext>
            </a:extLst>
          </p:cNvPr>
          <p:cNvSpPr txBox="1"/>
          <p:nvPr/>
        </p:nvSpPr>
        <p:spPr>
          <a:xfrm>
            <a:off x="0" y="5788391"/>
            <a:ext cx="12192000" cy="369332"/>
          </a:xfrm>
          <a:prstGeom prst="rect">
            <a:avLst/>
          </a:prstGeom>
          <a:noFill/>
        </p:spPr>
        <p:txBody>
          <a:bodyPr wrap="square" rtlCol="0">
            <a:spAutoFit/>
          </a:bodyPr>
          <a:lstStyle/>
          <a:p>
            <a:pPr algn="ctr"/>
            <a:r>
              <a:rPr lang="it-IT" dirty="0"/>
              <a:t>Per verificare se l’installazione è avvenuta correttamente basta digitare:</a:t>
            </a:r>
          </a:p>
        </p:txBody>
      </p:sp>
      <p:pic>
        <p:nvPicPr>
          <p:cNvPr id="14" name="Immagine 13">
            <a:extLst>
              <a:ext uri="{FF2B5EF4-FFF2-40B4-BE49-F238E27FC236}">
                <a16:creationId xmlns:a16="http://schemas.microsoft.com/office/drawing/2014/main" id="{6BB556CC-5D74-C9E6-68EA-0C7C41521B33}"/>
              </a:ext>
            </a:extLst>
          </p:cNvPr>
          <p:cNvPicPr>
            <a:picLocks noChangeAspect="1"/>
          </p:cNvPicPr>
          <p:nvPr/>
        </p:nvPicPr>
        <p:blipFill>
          <a:blip r:embed="rId5"/>
          <a:stretch>
            <a:fillRect/>
          </a:stretch>
        </p:blipFill>
        <p:spPr>
          <a:xfrm>
            <a:off x="3131975" y="6184033"/>
            <a:ext cx="5373687" cy="441544"/>
          </a:xfrm>
          <a:prstGeom prst="rect">
            <a:avLst/>
          </a:prstGeom>
        </p:spPr>
      </p:pic>
      <p:sp>
        <p:nvSpPr>
          <p:cNvPr id="21" name="Rettangolo 20">
            <a:extLst>
              <a:ext uri="{FF2B5EF4-FFF2-40B4-BE49-F238E27FC236}">
                <a16:creationId xmlns:a16="http://schemas.microsoft.com/office/drawing/2014/main" id="{E5F3F341-147B-FAD0-5C19-369858201696}"/>
              </a:ext>
            </a:extLst>
          </p:cNvPr>
          <p:cNvSpPr/>
          <p:nvPr/>
        </p:nvSpPr>
        <p:spPr>
          <a:xfrm>
            <a:off x="0" y="0"/>
            <a:ext cx="12192000" cy="110101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it-IT"/>
          </a:p>
        </p:txBody>
      </p:sp>
      <p:sp>
        <p:nvSpPr>
          <p:cNvPr id="20" name="CasellaDiTesto 19">
            <a:extLst>
              <a:ext uri="{FF2B5EF4-FFF2-40B4-BE49-F238E27FC236}">
                <a16:creationId xmlns:a16="http://schemas.microsoft.com/office/drawing/2014/main" id="{91412C60-68F8-980F-D160-25A233AEBD29}"/>
              </a:ext>
            </a:extLst>
          </p:cNvPr>
          <p:cNvSpPr txBox="1"/>
          <p:nvPr/>
        </p:nvSpPr>
        <p:spPr>
          <a:xfrm>
            <a:off x="0" y="65315"/>
            <a:ext cx="12192000" cy="923330"/>
          </a:xfrm>
          <a:prstGeom prst="rect">
            <a:avLst/>
          </a:prstGeom>
          <a:noFill/>
        </p:spPr>
        <p:txBody>
          <a:bodyPr wrap="square" rtlCol="0">
            <a:spAutoFit/>
          </a:bodyPr>
          <a:lstStyle/>
          <a:p>
            <a:pPr algn="ctr"/>
            <a:r>
              <a:rPr lang="it-IT" sz="5400" dirty="0"/>
              <a:t>Impostazione dell’Ambiente Virtuale</a:t>
            </a:r>
          </a:p>
        </p:txBody>
      </p:sp>
      <p:sp>
        <p:nvSpPr>
          <p:cNvPr id="22" name="Freccia curva 21">
            <a:extLst>
              <a:ext uri="{FF2B5EF4-FFF2-40B4-BE49-F238E27FC236}">
                <a16:creationId xmlns:a16="http://schemas.microsoft.com/office/drawing/2014/main" id="{EFFB919A-08F5-1361-79D3-02EC5B5EF0C3}"/>
              </a:ext>
            </a:extLst>
          </p:cNvPr>
          <p:cNvSpPr/>
          <p:nvPr/>
        </p:nvSpPr>
        <p:spPr>
          <a:xfrm rot="3379641" flipV="1">
            <a:off x="2359480" y="1913271"/>
            <a:ext cx="1156039" cy="546598"/>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23" name="Freccia curva 22">
            <a:extLst>
              <a:ext uri="{FF2B5EF4-FFF2-40B4-BE49-F238E27FC236}">
                <a16:creationId xmlns:a16="http://schemas.microsoft.com/office/drawing/2014/main" id="{626C0299-8B8B-86FD-63A1-65DC72AFC132}"/>
              </a:ext>
            </a:extLst>
          </p:cNvPr>
          <p:cNvSpPr/>
          <p:nvPr/>
        </p:nvSpPr>
        <p:spPr>
          <a:xfrm rot="2310393" flipV="1">
            <a:off x="2284972" y="4172740"/>
            <a:ext cx="1305056" cy="66375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24" name="Freccia curva 23">
            <a:extLst>
              <a:ext uri="{FF2B5EF4-FFF2-40B4-BE49-F238E27FC236}">
                <a16:creationId xmlns:a16="http://schemas.microsoft.com/office/drawing/2014/main" id="{469A871E-B1F2-E335-337C-C5A5C95E962D}"/>
              </a:ext>
            </a:extLst>
          </p:cNvPr>
          <p:cNvSpPr/>
          <p:nvPr/>
        </p:nvSpPr>
        <p:spPr>
          <a:xfrm rot="2258284">
            <a:off x="9861970" y="5975850"/>
            <a:ext cx="1063690" cy="57990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Tree>
    <p:extLst>
      <p:ext uri="{BB962C8B-B14F-4D97-AF65-F5344CB8AC3E}">
        <p14:creationId xmlns:p14="http://schemas.microsoft.com/office/powerpoint/2010/main" val="2352127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FC5068C6-FB43-668C-253B-F5937AC670E8}"/>
              </a:ext>
            </a:extLst>
          </p:cNvPr>
          <p:cNvSpPr txBox="1"/>
          <p:nvPr/>
        </p:nvSpPr>
        <p:spPr>
          <a:xfrm>
            <a:off x="0" y="5094466"/>
            <a:ext cx="12192000" cy="369332"/>
          </a:xfrm>
          <a:prstGeom prst="rect">
            <a:avLst/>
          </a:prstGeom>
          <a:noFill/>
        </p:spPr>
        <p:txBody>
          <a:bodyPr wrap="square" rtlCol="0">
            <a:spAutoFit/>
          </a:bodyPr>
          <a:lstStyle/>
          <a:p>
            <a:pPr algn="ctr"/>
            <a:r>
              <a:rPr lang="it-IT" dirty="0"/>
              <a:t>Infine ho installato </a:t>
            </a:r>
            <a:r>
              <a:rPr lang="it-IT" b="1" dirty="0" err="1"/>
              <a:t>streamlit</a:t>
            </a:r>
            <a:r>
              <a:rPr lang="it-IT" dirty="0"/>
              <a:t> per la realizzazione del mio prototipo di app web con il comando:</a:t>
            </a:r>
          </a:p>
        </p:txBody>
      </p:sp>
      <p:pic>
        <p:nvPicPr>
          <p:cNvPr id="4" name="Immagine 3">
            <a:extLst>
              <a:ext uri="{FF2B5EF4-FFF2-40B4-BE49-F238E27FC236}">
                <a16:creationId xmlns:a16="http://schemas.microsoft.com/office/drawing/2014/main" id="{4834B4EC-79FE-90DB-DEB6-28021CE66CAC}"/>
              </a:ext>
            </a:extLst>
          </p:cNvPr>
          <p:cNvPicPr>
            <a:picLocks noChangeAspect="1"/>
          </p:cNvPicPr>
          <p:nvPr/>
        </p:nvPicPr>
        <p:blipFill>
          <a:blip r:embed="rId2"/>
          <a:stretch>
            <a:fillRect/>
          </a:stretch>
        </p:blipFill>
        <p:spPr>
          <a:xfrm>
            <a:off x="4253845" y="5483119"/>
            <a:ext cx="2669467" cy="540125"/>
          </a:xfrm>
          <a:prstGeom prst="rect">
            <a:avLst/>
          </a:prstGeom>
        </p:spPr>
      </p:pic>
      <p:sp>
        <p:nvSpPr>
          <p:cNvPr id="6" name="CasellaDiTesto 5">
            <a:extLst>
              <a:ext uri="{FF2B5EF4-FFF2-40B4-BE49-F238E27FC236}">
                <a16:creationId xmlns:a16="http://schemas.microsoft.com/office/drawing/2014/main" id="{CB5624CB-8ABF-50B4-9293-3916D8C8EE00}"/>
              </a:ext>
            </a:extLst>
          </p:cNvPr>
          <p:cNvSpPr txBox="1"/>
          <p:nvPr/>
        </p:nvSpPr>
        <p:spPr>
          <a:xfrm>
            <a:off x="0" y="1578868"/>
            <a:ext cx="12192000" cy="923330"/>
          </a:xfrm>
          <a:prstGeom prst="rect">
            <a:avLst/>
          </a:prstGeom>
          <a:noFill/>
        </p:spPr>
        <p:txBody>
          <a:bodyPr wrap="square">
            <a:spAutoFit/>
          </a:bodyPr>
          <a:lstStyle/>
          <a:p>
            <a:pPr algn="ctr"/>
            <a:r>
              <a:rPr lang="it-IT" dirty="0"/>
              <a:t>Ho deciso di far girare il mio </a:t>
            </a:r>
            <a:r>
              <a:rPr lang="it-IT" b="1" dirty="0"/>
              <a:t>AI in locale usando </a:t>
            </a:r>
            <a:r>
              <a:rPr lang="it-IT" b="1" dirty="0" err="1"/>
              <a:t>Ollama</a:t>
            </a:r>
            <a:r>
              <a:rPr lang="it-IT" dirty="0"/>
              <a:t> (in particolare ho scelto il modello di </a:t>
            </a:r>
            <a:r>
              <a:rPr lang="it-IT" b="1" dirty="0"/>
              <a:t>gemma3:1b</a:t>
            </a:r>
            <a:r>
              <a:rPr lang="it-IT" dirty="0"/>
              <a:t> per motivi di hardware). Per l’installazione corretta ho seguito </a:t>
            </a:r>
            <a:r>
              <a:rPr lang="it-IT" b="1" dirty="0"/>
              <a:t>le istruzioni sulla pagina </a:t>
            </a:r>
            <a:r>
              <a:rPr lang="it-IT" b="1" dirty="0" err="1"/>
              <a:t>github</a:t>
            </a:r>
            <a:r>
              <a:rPr lang="it-IT" dirty="0"/>
              <a:t>: </a:t>
            </a:r>
            <a:r>
              <a:rPr lang="it-IT" dirty="0">
                <a:hlinkClick r:id="rId3"/>
              </a:rPr>
              <a:t>https://github.com/ollama/ollama</a:t>
            </a:r>
            <a:endParaRPr lang="it-IT" dirty="0"/>
          </a:p>
          <a:p>
            <a:pPr algn="ctr"/>
            <a:r>
              <a:rPr lang="it-IT" dirty="0"/>
              <a:t>(Sempre per </a:t>
            </a:r>
            <a:r>
              <a:rPr lang="it-IT" b="1" dirty="0"/>
              <a:t>WSL</a:t>
            </a:r>
            <a:r>
              <a:rPr lang="it-IT" dirty="0"/>
              <a:t>) e ho installato il modello di gemma3:1b come scritto…</a:t>
            </a:r>
          </a:p>
        </p:txBody>
      </p:sp>
      <p:pic>
        <p:nvPicPr>
          <p:cNvPr id="7" name="Immagine 6">
            <a:extLst>
              <a:ext uri="{FF2B5EF4-FFF2-40B4-BE49-F238E27FC236}">
                <a16:creationId xmlns:a16="http://schemas.microsoft.com/office/drawing/2014/main" id="{9046DD68-50EB-DC5B-3924-1A13363638C4}"/>
              </a:ext>
            </a:extLst>
          </p:cNvPr>
          <p:cNvPicPr>
            <a:picLocks noChangeAspect="1"/>
          </p:cNvPicPr>
          <p:nvPr/>
        </p:nvPicPr>
        <p:blipFill>
          <a:blip r:embed="rId4"/>
          <a:stretch>
            <a:fillRect/>
          </a:stretch>
        </p:blipFill>
        <p:spPr>
          <a:xfrm>
            <a:off x="1408647" y="2502198"/>
            <a:ext cx="8359864" cy="1120237"/>
          </a:xfrm>
          <a:prstGeom prst="rect">
            <a:avLst/>
          </a:prstGeom>
        </p:spPr>
      </p:pic>
      <p:pic>
        <p:nvPicPr>
          <p:cNvPr id="8" name="Immagine 7">
            <a:extLst>
              <a:ext uri="{FF2B5EF4-FFF2-40B4-BE49-F238E27FC236}">
                <a16:creationId xmlns:a16="http://schemas.microsoft.com/office/drawing/2014/main" id="{909E8AE6-51C3-D92B-1ABA-22D9A17DE93A}"/>
              </a:ext>
            </a:extLst>
          </p:cNvPr>
          <p:cNvPicPr>
            <a:picLocks noChangeAspect="1"/>
          </p:cNvPicPr>
          <p:nvPr/>
        </p:nvPicPr>
        <p:blipFill>
          <a:blip r:embed="rId5"/>
          <a:stretch>
            <a:fillRect/>
          </a:stretch>
        </p:blipFill>
        <p:spPr>
          <a:xfrm>
            <a:off x="2517453" y="3503844"/>
            <a:ext cx="6142252" cy="777307"/>
          </a:xfrm>
          <a:prstGeom prst="rect">
            <a:avLst/>
          </a:prstGeom>
        </p:spPr>
      </p:pic>
      <p:sp>
        <p:nvSpPr>
          <p:cNvPr id="10" name="Rettangolo 9">
            <a:extLst>
              <a:ext uri="{FF2B5EF4-FFF2-40B4-BE49-F238E27FC236}">
                <a16:creationId xmlns:a16="http://schemas.microsoft.com/office/drawing/2014/main" id="{CA48C6E3-0FBF-7BE4-4E98-325B1B3E0D05}"/>
              </a:ext>
            </a:extLst>
          </p:cNvPr>
          <p:cNvSpPr/>
          <p:nvPr/>
        </p:nvSpPr>
        <p:spPr>
          <a:xfrm>
            <a:off x="0" y="0"/>
            <a:ext cx="12192000" cy="110101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it-IT"/>
          </a:p>
        </p:txBody>
      </p:sp>
      <p:sp>
        <p:nvSpPr>
          <p:cNvPr id="9" name="CasellaDiTesto 8">
            <a:extLst>
              <a:ext uri="{FF2B5EF4-FFF2-40B4-BE49-F238E27FC236}">
                <a16:creationId xmlns:a16="http://schemas.microsoft.com/office/drawing/2014/main" id="{E69A9EA5-722C-58E5-61E6-66018AD6E530}"/>
              </a:ext>
            </a:extLst>
          </p:cNvPr>
          <p:cNvSpPr txBox="1"/>
          <p:nvPr/>
        </p:nvSpPr>
        <p:spPr>
          <a:xfrm>
            <a:off x="0" y="65315"/>
            <a:ext cx="12192000" cy="923330"/>
          </a:xfrm>
          <a:prstGeom prst="rect">
            <a:avLst/>
          </a:prstGeom>
          <a:noFill/>
        </p:spPr>
        <p:txBody>
          <a:bodyPr wrap="square" rtlCol="0">
            <a:spAutoFit/>
          </a:bodyPr>
          <a:lstStyle/>
          <a:p>
            <a:pPr algn="ctr"/>
            <a:r>
              <a:rPr lang="it-IT" sz="5400" dirty="0"/>
              <a:t>Impostazione dell’Ambiente Virtuale</a:t>
            </a:r>
          </a:p>
        </p:txBody>
      </p:sp>
      <p:sp>
        <p:nvSpPr>
          <p:cNvPr id="11" name="Freccia curva 10">
            <a:extLst>
              <a:ext uri="{FF2B5EF4-FFF2-40B4-BE49-F238E27FC236}">
                <a16:creationId xmlns:a16="http://schemas.microsoft.com/office/drawing/2014/main" id="{BD38A6E6-C0DE-96CD-EAAA-9092561D8702}"/>
              </a:ext>
            </a:extLst>
          </p:cNvPr>
          <p:cNvSpPr/>
          <p:nvPr/>
        </p:nvSpPr>
        <p:spPr>
          <a:xfrm rot="2310393" flipV="1">
            <a:off x="1147671" y="4026575"/>
            <a:ext cx="1305056" cy="66375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2" name="Freccia curva 11">
            <a:extLst>
              <a:ext uri="{FF2B5EF4-FFF2-40B4-BE49-F238E27FC236}">
                <a16:creationId xmlns:a16="http://schemas.microsoft.com/office/drawing/2014/main" id="{20475FB7-FDD7-1427-393A-CE5CF040DA73}"/>
              </a:ext>
            </a:extLst>
          </p:cNvPr>
          <p:cNvSpPr/>
          <p:nvPr/>
        </p:nvSpPr>
        <p:spPr>
          <a:xfrm rot="2310393">
            <a:off x="7895624" y="5888175"/>
            <a:ext cx="1305056" cy="477628"/>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Tree>
    <p:extLst>
      <p:ext uri="{BB962C8B-B14F-4D97-AF65-F5344CB8AC3E}">
        <p14:creationId xmlns:p14="http://schemas.microsoft.com/office/powerpoint/2010/main" val="3841054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B650A628-6901-29DC-511F-9F6904C54B90}"/>
              </a:ext>
            </a:extLst>
          </p:cNvPr>
          <p:cNvSpPr/>
          <p:nvPr/>
        </p:nvSpPr>
        <p:spPr>
          <a:xfrm>
            <a:off x="0" y="0"/>
            <a:ext cx="12192000" cy="110101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2" name="CasellaDiTesto 1">
            <a:extLst>
              <a:ext uri="{FF2B5EF4-FFF2-40B4-BE49-F238E27FC236}">
                <a16:creationId xmlns:a16="http://schemas.microsoft.com/office/drawing/2014/main" id="{00649EAE-F6FC-0109-7BD6-E215D083EBC5}"/>
              </a:ext>
            </a:extLst>
          </p:cNvPr>
          <p:cNvSpPr txBox="1"/>
          <p:nvPr/>
        </p:nvSpPr>
        <p:spPr>
          <a:xfrm>
            <a:off x="0" y="88841"/>
            <a:ext cx="12192000" cy="923330"/>
          </a:xfrm>
          <a:prstGeom prst="rect">
            <a:avLst/>
          </a:prstGeom>
          <a:noFill/>
        </p:spPr>
        <p:txBody>
          <a:bodyPr wrap="square" rtlCol="0">
            <a:spAutoFit/>
          </a:bodyPr>
          <a:lstStyle/>
          <a:p>
            <a:pPr algn="ctr"/>
            <a:r>
              <a:rPr lang="it-IT" sz="5400" dirty="0"/>
              <a:t>REALIZZAZIONE DEL PROGETTO</a:t>
            </a:r>
          </a:p>
        </p:txBody>
      </p:sp>
      <p:sp>
        <p:nvSpPr>
          <p:cNvPr id="6" name="CasellaDiTesto 5">
            <a:extLst>
              <a:ext uri="{FF2B5EF4-FFF2-40B4-BE49-F238E27FC236}">
                <a16:creationId xmlns:a16="http://schemas.microsoft.com/office/drawing/2014/main" id="{96FD9D32-314F-646D-CD66-BAE3217D6D81}"/>
              </a:ext>
            </a:extLst>
          </p:cNvPr>
          <p:cNvSpPr txBox="1"/>
          <p:nvPr/>
        </p:nvSpPr>
        <p:spPr>
          <a:xfrm>
            <a:off x="-65316" y="1306487"/>
            <a:ext cx="12257316" cy="646331"/>
          </a:xfrm>
          <a:prstGeom prst="rect">
            <a:avLst/>
          </a:prstGeom>
          <a:noFill/>
        </p:spPr>
        <p:txBody>
          <a:bodyPr wrap="square">
            <a:spAutoFit/>
          </a:bodyPr>
          <a:lstStyle/>
          <a:p>
            <a:pPr algn="ctr"/>
            <a:r>
              <a:rPr lang="it-IT" dirty="0"/>
              <a:t>Questi sono i </a:t>
            </a:r>
            <a:r>
              <a:rPr lang="it-IT" b="1" dirty="0"/>
              <a:t>link pubblici</a:t>
            </a:r>
            <a:r>
              <a:rPr lang="it-IT" dirty="0"/>
              <a:t> delle conversazioni con l’agente per la realizzazione del codice per il mio progetto</a:t>
            </a:r>
          </a:p>
          <a:p>
            <a:pPr algn="ctr"/>
            <a:r>
              <a:rPr lang="it-IT" dirty="0"/>
              <a:t>(</a:t>
            </a:r>
            <a:r>
              <a:rPr lang="it-IT" b="1" dirty="0"/>
              <a:t>in ordine cronologico</a:t>
            </a:r>
            <a:r>
              <a:rPr lang="it-IT" dirty="0"/>
              <a:t>):</a:t>
            </a:r>
          </a:p>
        </p:txBody>
      </p:sp>
      <p:sp>
        <p:nvSpPr>
          <p:cNvPr id="7" name="CasellaDiTesto 6">
            <a:extLst>
              <a:ext uri="{FF2B5EF4-FFF2-40B4-BE49-F238E27FC236}">
                <a16:creationId xmlns:a16="http://schemas.microsoft.com/office/drawing/2014/main" id="{9F32A2F8-E6D7-E936-2385-0C620E36B6E8}"/>
              </a:ext>
            </a:extLst>
          </p:cNvPr>
          <p:cNvSpPr txBox="1"/>
          <p:nvPr/>
        </p:nvSpPr>
        <p:spPr>
          <a:xfrm>
            <a:off x="1" y="2284458"/>
            <a:ext cx="12192000" cy="646331"/>
          </a:xfrm>
          <a:prstGeom prst="rect">
            <a:avLst/>
          </a:prstGeom>
          <a:noFill/>
        </p:spPr>
        <p:txBody>
          <a:bodyPr wrap="square">
            <a:spAutoFit/>
          </a:bodyPr>
          <a:lstStyle/>
          <a:p>
            <a:pPr algn="ctr"/>
            <a:r>
              <a:rPr lang="it-IT" dirty="0">
                <a:hlinkClick r:id="rId2"/>
              </a:rPr>
              <a:t>https://chatgpt.com/share/6852a6e4-0600-8010-889d-9f10575f0b9a</a:t>
            </a:r>
            <a:endParaRPr lang="it-IT" dirty="0"/>
          </a:p>
          <a:p>
            <a:pPr algn="ctr"/>
            <a:endParaRPr lang="it-IT" dirty="0"/>
          </a:p>
        </p:txBody>
      </p:sp>
      <p:sp>
        <p:nvSpPr>
          <p:cNvPr id="8" name="CasellaDiTesto 7">
            <a:extLst>
              <a:ext uri="{FF2B5EF4-FFF2-40B4-BE49-F238E27FC236}">
                <a16:creationId xmlns:a16="http://schemas.microsoft.com/office/drawing/2014/main" id="{FB479F2A-F79B-1AAC-139E-1ADF6F742773}"/>
              </a:ext>
            </a:extLst>
          </p:cNvPr>
          <p:cNvSpPr txBox="1"/>
          <p:nvPr/>
        </p:nvSpPr>
        <p:spPr>
          <a:xfrm>
            <a:off x="0" y="2831759"/>
            <a:ext cx="12191999" cy="646331"/>
          </a:xfrm>
          <a:prstGeom prst="rect">
            <a:avLst/>
          </a:prstGeom>
          <a:noFill/>
        </p:spPr>
        <p:txBody>
          <a:bodyPr wrap="square">
            <a:spAutoFit/>
          </a:bodyPr>
          <a:lstStyle/>
          <a:p>
            <a:pPr algn="ctr"/>
            <a:r>
              <a:rPr lang="it-IT" dirty="0">
                <a:hlinkClick r:id="rId3"/>
              </a:rPr>
              <a:t>https://chatgpt.com/share/6852a762-4ba4-8010-9a2f-5ff7c25caf89</a:t>
            </a:r>
            <a:endParaRPr lang="it-IT" dirty="0"/>
          </a:p>
          <a:p>
            <a:pPr algn="ctr"/>
            <a:endParaRPr lang="it-IT" dirty="0"/>
          </a:p>
        </p:txBody>
      </p:sp>
      <p:sp>
        <p:nvSpPr>
          <p:cNvPr id="9" name="CasellaDiTesto 8">
            <a:extLst>
              <a:ext uri="{FF2B5EF4-FFF2-40B4-BE49-F238E27FC236}">
                <a16:creationId xmlns:a16="http://schemas.microsoft.com/office/drawing/2014/main" id="{2DFA1606-FA87-9776-BC40-524665BC2D23}"/>
              </a:ext>
            </a:extLst>
          </p:cNvPr>
          <p:cNvSpPr txBox="1"/>
          <p:nvPr/>
        </p:nvSpPr>
        <p:spPr>
          <a:xfrm>
            <a:off x="0" y="3397721"/>
            <a:ext cx="12191999" cy="646331"/>
          </a:xfrm>
          <a:prstGeom prst="rect">
            <a:avLst/>
          </a:prstGeom>
          <a:noFill/>
        </p:spPr>
        <p:txBody>
          <a:bodyPr wrap="square">
            <a:spAutoFit/>
          </a:bodyPr>
          <a:lstStyle/>
          <a:p>
            <a:pPr algn="ctr"/>
            <a:r>
              <a:rPr lang="it-IT" dirty="0">
                <a:hlinkClick r:id="rId4"/>
              </a:rPr>
              <a:t>https://chatgpt.com/share/6852a785-7c58-8010-8b66-d11b6dbbccb4</a:t>
            </a:r>
            <a:endParaRPr lang="it-IT" dirty="0"/>
          </a:p>
          <a:p>
            <a:pPr algn="ctr"/>
            <a:endParaRPr lang="it-IT" dirty="0"/>
          </a:p>
        </p:txBody>
      </p:sp>
      <p:sp>
        <p:nvSpPr>
          <p:cNvPr id="10" name="CasellaDiTesto 9">
            <a:extLst>
              <a:ext uri="{FF2B5EF4-FFF2-40B4-BE49-F238E27FC236}">
                <a16:creationId xmlns:a16="http://schemas.microsoft.com/office/drawing/2014/main" id="{6E52D1CA-A008-9098-5BFC-938CE4761B9A}"/>
              </a:ext>
            </a:extLst>
          </p:cNvPr>
          <p:cNvSpPr txBox="1"/>
          <p:nvPr/>
        </p:nvSpPr>
        <p:spPr>
          <a:xfrm>
            <a:off x="0" y="3926361"/>
            <a:ext cx="12191999" cy="646331"/>
          </a:xfrm>
          <a:prstGeom prst="rect">
            <a:avLst/>
          </a:prstGeom>
          <a:noFill/>
        </p:spPr>
        <p:txBody>
          <a:bodyPr wrap="square">
            <a:spAutoFit/>
          </a:bodyPr>
          <a:lstStyle/>
          <a:p>
            <a:pPr algn="ctr"/>
            <a:r>
              <a:rPr lang="it-IT" dirty="0">
                <a:hlinkClick r:id="rId5"/>
              </a:rPr>
              <a:t>https://chatgpt.com/share/6852a7b0-5f8c-8010-975f-c68e0bc8198d</a:t>
            </a:r>
            <a:endParaRPr lang="it-IT" dirty="0"/>
          </a:p>
          <a:p>
            <a:pPr algn="ctr"/>
            <a:endParaRPr lang="it-IT" dirty="0"/>
          </a:p>
        </p:txBody>
      </p:sp>
      <p:sp>
        <p:nvSpPr>
          <p:cNvPr id="11" name="CasellaDiTesto 10">
            <a:extLst>
              <a:ext uri="{FF2B5EF4-FFF2-40B4-BE49-F238E27FC236}">
                <a16:creationId xmlns:a16="http://schemas.microsoft.com/office/drawing/2014/main" id="{7B6C8AA3-197E-E405-7324-D28ABB4950CD}"/>
              </a:ext>
            </a:extLst>
          </p:cNvPr>
          <p:cNvSpPr txBox="1"/>
          <p:nvPr/>
        </p:nvSpPr>
        <p:spPr>
          <a:xfrm>
            <a:off x="0" y="4487859"/>
            <a:ext cx="12191999" cy="646331"/>
          </a:xfrm>
          <a:prstGeom prst="rect">
            <a:avLst/>
          </a:prstGeom>
          <a:noFill/>
        </p:spPr>
        <p:txBody>
          <a:bodyPr wrap="square">
            <a:spAutoFit/>
          </a:bodyPr>
          <a:lstStyle/>
          <a:p>
            <a:pPr algn="ctr"/>
            <a:r>
              <a:rPr lang="it-IT" dirty="0">
                <a:hlinkClick r:id="rId6"/>
              </a:rPr>
              <a:t>https://chatgpt.com/share/6852a7d1-2dd0-8010-aee7-be47c9ba25b4</a:t>
            </a:r>
            <a:endParaRPr lang="it-IT" dirty="0"/>
          </a:p>
          <a:p>
            <a:pPr algn="ctr"/>
            <a:endParaRPr lang="it-IT" dirty="0"/>
          </a:p>
        </p:txBody>
      </p:sp>
      <p:sp>
        <p:nvSpPr>
          <p:cNvPr id="12" name="CasellaDiTesto 11">
            <a:extLst>
              <a:ext uri="{FF2B5EF4-FFF2-40B4-BE49-F238E27FC236}">
                <a16:creationId xmlns:a16="http://schemas.microsoft.com/office/drawing/2014/main" id="{113B4013-1F78-E22F-7C2C-7CB54C6AC013}"/>
              </a:ext>
            </a:extLst>
          </p:cNvPr>
          <p:cNvSpPr txBox="1"/>
          <p:nvPr/>
        </p:nvSpPr>
        <p:spPr>
          <a:xfrm>
            <a:off x="1" y="5030493"/>
            <a:ext cx="12191998" cy="646331"/>
          </a:xfrm>
          <a:prstGeom prst="rect">
            <a:avLst/>
          </a:prstGeom>
          <a:noFill/>
        </p:spPr>
        <p:txBody>
          <a:bodyPr wrap="square">
            <a:spAutoFit/>
          </a:bodyPr>
          <a:lstStyle/>
          <a:p>
            <a:pPr algn="ctr"/>
            <a:r>
              <a:rPr lang="it-IT" dirty="0">
                <a:hlinkClick r:id="rId7"/>
              </a:rPr>
              <a:t>https://chatgpt.com/share/6852a7ef-0194-8010-8002-e8ba1564d1e6</a:t>
            </a:r>
            <a:endParaRPr lang="it-IT" dirty="0"/>
          </a:p>
          <a:p>
            <a:pPr algn="ctr"/>
            <a:endParaRPr lang="it-IT" dirty="0"/>
          </a:p>
        </p:txBody>
      </p:sp>
      <p:cxnSp>
        <p:nvCxnSpPr>
          <p:cNvPr id="14" name="Connettore diritto 13">
            <a:extLst>
              <a:ext uri="{FF2B5EF4-FFF2-40B4-BE49-F238E27FC236}">
                <a16:creationId xmlns:a16="http://schemas.microsoft.com/office/drawing/2014/main" id="{A29D0BAD-30AD-5E9C-F430-A903BE49BFF0}"/>
              </a:ext>
            </a:extLst>
          </p:cNvPr>
          <p:cNvCxnSpPr/>
          <p:nvPr/>
        </p:nvCxnSpPr>
        <p:spPr>
          <a:xfrm>
            <a:off x="0" y="2120770"/>
            <a:ext cx="12191999"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CasellaDiTesto 14">
            <a:extLst>
              <a:ext uri="{FF2B5EF4-FFF2-40B4-BE49-F238E27FC236}">
                <a16:creationId xmlns:a16="http://schemas.microsoft.com/office/drawing/2014/main" id="{F442E116-7D8F-152D-0205-3B6FBD10FEF9}"/>
              </a:ext>
            </a:extLst>
          </p:cNvPr>
          <p:cNvSpPr txBox="1"/>
          <p:nvPr/>
        </p:nvSpPr>
        <p:spPr>
          <a:xfrm>
            <a:off x="2202024" y="2286734"/>
            <a:ext cx="457200" cy="3139321"/>
          </a:xfrm>
          <a:prstGeom prst="rect">
            <a:avLst/>
          </a:prstGeom>
          <a:noFill/>
        </p:spPr>
        <p:txBody>
          <a:bodyPr wrap="square" rtlCol="0">
            <a:spAutoFit/>
          </a:bodyPr>
          <a:lstStyle/>
          <a:p>
            <a:r>
              <a:rPr lang="it-IT" dirty="0"/>
              <a:t>1.</a:t>
            </a:r>
          </a:p>
          <a:p>
            <a:endParaRPr lang="it-IT" dirty="0"/>
          </a:p>
          <a:p>
            <a:r>
              <a:rPr lang="it-IT" dirty="0"/>
              <a:t>2.</a:t>
            </a:r>
          </a:p>
          <a:p>
            <a:endParaRPr lang="it-IT" dirty="0"/>
          </a:p>
          <a:p>
            <a:r>
              <a:rPr lang="it-IT" dirty="0"/>
              <a:t>3.</a:t>
            </a:r>
          </a:p>
          <a:p>
            <a:endParaRPr lang="it-IT" dirty="0"/>
          </a:p>
          <a:p>
            <a:r>
              <a:rPr lang="it-IT" dirty="0"/>
              <a:t>4.</a:t>
            </a:r>
          </a:p>
          <a:p>
            <a:endParaRPr lang="it-IT" dirty="0"/>
          </a:p>
          <a:p>
            <a:r>
              <a:rPr lang="it-IT" dirty="0"/>
              <a:t>5.</a:t>
            </a:r>
          </a:p>
          <a:p>
            <a:endParaRPr lang="it-IT" dirty="0"/>
          </a:p>
          <a:p>
            <a:r>
              <a:rPr lang="it-IT" dirty="0"/>
              <a:t>6.</a:t>
            </a:r>
          </a:p>
        </p:txBody>
      </p:sp>
      <p:cxnSp>
        <p:nvCxnSpPr>
          <p:cNvPr id="16" name="Connettore diritto 15">
            <a:extLst>
              <a:ext uri="{FF2B5EF4-FFF2-40B4-BE49-F238E27FC236}">
                <a16:creationId xmlns:a16="http://schemas.microsoft.com/office/drawing/2014/main" id="{D78CC131-65CC-4FEC-9D4E-8FD88EF7C30F}"/>
              </a:ext>
            </a:extLst>
          </p:cNvPr>
          <p:cNvCxnSpPr/>
          <p:nvPr/>
        </p:nvCxnSpPr>
        <p:spPr>
          <a:xfrm>
            <a:off x="-32658" y="5800142"/>
            <a:ext cx="12191999"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CasellaDiTesto 16">
            <a:extLst>
              <a:ext uri="{FF2B5EF4-FFF2-40B4-BE49-F238E27FC236}">
                <a16:creationId xmlns:a16="http://schemas.microsoft.com/office/drawing/2014/main" id="{A99DC556-75D2-AE15-8834-1AB20C12D3F9}"/>
              </a:ext>
            </a:extLst>
          </p:cNvPr>
          <p:cNvSpPr txBox="1"/>
          <p:nvPr/>
        </p:nvSpPr>
        <p:spPr>
          <a:xfrm>
            <a:off x="0" y="5868952"/>
            <a:ext cx="12192000" cy="923330"/>
          </a:xfrm>
          <a:prstGeom prst="rect">
            <a:avLst/>
          </a:prstGeom>
          <a:noFill/>
        </p:spPr>
        <p:txBody>
          <a:bodyPr wrap="square" rtlCol="0">
            <a:spAutoFit/>
          </a:bodyPr>
          <a:lstStyle/>
          <a:p>
            <a:pPr algn="ctr"/>
            <a:r>
              <a:rPr lang="it-IT" dirty="0"/>
              <a:t>Data l’enorme mole di conversazioni con l’agente ho provato a condividere link pubblici delle chat. Ho testato con alcuni miei colleghi se riuscissero a leggerle e sembra sia tutto bene. Se per qualche ragione non si dovessero vedere, inviatemi un’email a:</a:t>
            </a:r>
          </a:p>
          <a:p>
            <a:pPr algn="ctr"/>
            <a:r>
              <a:rPr lang="it-IT" dirty="0">
                <a:hlinkClick r:id="rId8"/>
              </a:rPr>
              <a:t>conti.daniele.220406@gmail.com</a:t>
            </a:r>
            <a:r>
              <a:rPr lang="it-IT" dirty="0"/>
              <a:t> e provvederò a sistemare il tutto il prima possibile.</a:t>
            </a:r>
          </a:p>
        </p:txBody>
      </p:sp>
    </p:spTree>
    <p:extLst>
      <p:ext uri="{BB962C8B-B14F-4D97-AF65-F5344CB8AC3E}">
        <p14:creationId xmlns:p14="http://schemas.microsoft.com/office/powerpoint/2010/main" val="3835494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EEF076FE-D10B-6BDC-BBAD-C2514C40A7E1}"/>
              </a:ext>
            </a:extLst>
          </p:cNvPr>
          <p:cNvSpPr/>
          <p:nvPr/>
        </p:nvSpPr>
        <p:spPr>
          <a:xfrm>
            <a:off x="0" y="0"/>
            <a:ext cx="12192000" cy="11010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a:p>
        </p:txBody>
      </p:sp>
      <p:sp>
        <p:nvSpPr>
          <p:cNvPr id="2" name="CasellaDiTesto 1">
            <a:extLst>
              <a:ext uri="{FF2B5EF4-FFF2-40B4-BE49-F238E27FC236}">
                <a16:creationId xmlns:a16="http://schemas.microsoft.com/office/drawing/2014/main" id="{705E1EC8-3E1B-9535-AF42-C9CA091BAE36}"/>
              </a:ext>
            </a:extLst>
          </p:cNvPr>
          <p:cNvSpPr txBox="1"/>
          <p:nvPr/>
        </p:nvSpPr>
        <p:spPr>
          <a:xfrm>
            <a:off x="0" y="88841"/>
            <a:ext cx="12192000" cy="923330"/>
          </a:xfrm>
          <a:prstGeom prst="rect">
            <a:avLst/>
          </a:prstGeom>
          <a:noFill/>
        </p:spPr>
        <p:txBody>
          <a:bodyPr wrap="square" rtlCol="0">
            <a:spAutoFit/>
          </a:bodyPr>
          <a:lstStyle/>
          <a:p>
            <a:pPr algn="ctr"/>
            <a:r>
              <a:rPr lang="it-IT" sz="5400" dirty="0"/>
              <a:t>ESECUZIONE DEL PROGETTO</a:t>
            </a:r>
          </a:p>
        </p:txBody>
      </p:sp>
      <p:sp>
        <p:nvSpPr>
          <p:cNvPr id="5" name="CasellaDiTesto 4">
            <a:extLst>
              <a:ext uri="{FF2B5EF4-FFF2-40B4-BE49-F238E27FC236}">
                <a16:creationId xmlns:a16="http://schemas.microsoft.com/office/drawing/2014/main" id="{45B2D10F-4390-ED31-8CF9-F9B64A24E144}"/>
              </a:ext>
            </a:extLst>
          </p:cNvPr>
          <p:cNvSpPr txBox="1"/>
          <p:nvPr/>
        </p:nvSpPr>
        <p:spPr>
          <a:xfrm>
            <a:off x="0" y="1224096"/>
            <a:ext cx="12192000" cy="369332"/>
          </a:xfrm>
          <a:prstGeom prst="rect">
            <a:avLst/>
          </a:prstGeom>
          <a:noFill/>
        </p:spPr>
        <p:txBody>
          <a:bodyPr wrap="square">
            <a:spAutoFit/>
          </a:bodyPr>
          <a:lstStyle/>
          <a:p>
            <a:pPr algn="ctr"/>
            <a:r>
              <a:rPr lang="it-IT" dirty="0"/>
              <a:t>Per l’esecuzione del progetto all’interno del terminale (</a:t>
            </a:r>
            <a:r>
              <a:rPr lang="it-IT" b="1" dirty="0"/>
              <a:t>versione base</a:t>
            </a:r>
            <a:r>
              <a:rPr lang="it-IT" dirty="0"/>
              <a:t>):</a:t>
            </a:r>
          </a:p>
        </p:txBody>
      </p:sp>
      <p:pic>
        <p:nvPicPr>
          <p:cNvPr id="10" name="Immagine 9">
            <a:extLst>
              <a:ext uri="{FF2B5EF4-FFF2-40B4-BE49-F238E27FC236}">
                <a16:creationId xmlns:a16="http://schemas.microsoft.com/office/drawing/2014/main" id="{54B14305-3560-5F99-8C69-F0FA4BEB12F1}"/>
              </a:ext>
            </a:extLst>
          </p:cNvPr>
          <p:cNvPicPr>
            <a:picLocks noChangeAspect="1"/>
          </p:cNvPicPr>
          <p:nvPr/>
        </p:nvPicPr>
        <p:blipFill>
          <a:blip r:embed="rId2"/>
          <a:srcRect r="25201"/>
          <a:stretch/>
        </p:blipFill>
        <p:spPr>
          <a:xfrm>
            <a:off x="2920483" y="1574767"/>
            <a:ext cx="6182702" cy="3095914"/>
          </a:xfrm>
          <a:prstGeom prst="rect">
            <a:avLst/>
          </a:prstGeom>
        </p:spPr>
      </p:pic>
      <p:sp>
        <p:nvSpPr>
          <p:cNvPr id="11" name="CasellaDiTesto 10">
            <a:extLst>
              <a:ext uri="{FF2B5EF4-FFF2-40B4-BE49-F238E27FC236}">
                <a16:creationId xmlns:a16="http://schemas.microsoft.com/office/drawing/2014/main" id="{BAA9D4E7-9D9F-0EA6-7C4B-5A3A5B017903}"/>
              </a:ext>
            </a:extLst>
          </p:cNvPr>
          <p:cNvSpPr txBox="1"/>
          <p:nvPr/>
        </p:nvSpPr>
        <p:spPr>
          <a:xfrm>
            <a:off x="0" y="4816074"/>
            <a:ext cx="5645020" cy="2031325"/>
          </a:xfrm>
          <a:prstGeom prst="rect">
            <a:avLst/>
          </a:prstGeom>
          <a:noFill/>
        </p:spPr>
        <p:txBody>
          <a:bodyPr wrap="square" rtlCol="0">
            <a:spAutoFit/>
          </a:bodyPr>
          <a:lstStyle/>
          <a:p>
            <a:r>
              <a:rPr lang="it-IT" dirty="0"/>
              <a:t>		</a:t>
            </a:r>
            <a:r>
              <a:rPr lang="it-IT" b="1" u="sng" dirty="0"/>
              <a:t>LIMITAZIONI:</a:t>
            </a:r>
          </a:p>
          <a:p>
            <a:pPr marL="285750" indent="-285750">
              <a:buFontTx/>
              <a:buChar char="-"/>
            </a:pPr>
            <a:r>
              <a:rPr lang="it-IT" dirty="0"/>
              <a:t>Non c’è la possibilità dell’utente di interagire</a:t>
            </a:r>
          </a:p>
          <a:p>
            <a:pPr marL="285750" indent="-285750">
              <a:buFontTx/>
              <a:buChar char="-"/>
            </a:pPr>
            <a:r>
              <a:rPr lang="it-IT" dirty="0"/>
              <a:t>Il numero di turni è prefissato</a:t>
            </a:r>
          </a:p>
          <a:p>
            <a:pPr marL="285750" indent="-285750">
              <a:buFontTx/>
              <a:buChar char="-"/>
            </a:pPr>
            <a:r>
              <a:rPr lang="it-IT" dirty="0"/>
              <a:t>Non ci sono «modifiche» che si possono apportare live</a:t>
            </a:r>
          </a:p>
          <a:p>
            <a:pPr marL="285750" indent="-285750">
              <a:buFontTx/>
              <a:buChar char="-"/>
            </a:pPr>
            <a:r>
              <a:rPr lang="it-IT" dirty="0"/>
              <a:t>Semplice, per testare il comportamento degli Agenti e come si susseguono i vari turni della conversazione</a:t>
            </a:r>
          </a:p>
          <a:p>
            <a:endParaRPr lang="it-IT" dirty="0"/>
          </a:p>
        </p:txBody>
      </p:sp>
      <p:sp>
        <p:nvSpPr>
          <p:cNvPr id="18" name="CasellaDiTesto 17">
            <a:extLst>
              <a:ext uri="{FF2B5EF4-FFF2-40B4-BE49-F238E27FC236}">
                <a16:creationId xmlns:a16="http://schemas.microsoft.com/office/drawing/2014/main" id="{434115E1-347F-7314-55C4-CF4A0FC60D1B}"/>
              </a:ext>
            </a:extLst>
          </p:cNvPr>
          <p:cNvSpPr txBox="1"/>
          <p:nvPr/>
        </p:nvSpPr>
        <p:spPr>
          <a:xfrm>
            <a:off x="6147522" y="4798682"/>
            <a:ext cx="5911325" cy="2031325"/>
          </a:xfrm>
          <a:prstGeom prst="rect">
            <a:avLst/>
          </a:prstGeom>
          <a:noFill/>
        </p:spPr>
        <p:txBody>
          <a:bodyPr wrap="square" rtlCol="0">
            <a:spAutoFit/>
          </a:bodyPr>
          <a:lstStyle/>
          <a:p>
            <a:r>
              <a:rPr lang="it-IT" dirty="0"/>
              <a:t>		</a:t>
            </a:r>
            <a:r>
              <a:rPr lang="it-IT" b="1" u="sng" dirty="0"/>
              <a:t>COSA SI PUO’ FARE:</a:t>
            </a:r>
          </a:p>
          <a:p>
            <a:pPr marL="285750" indent="-285750">
              <a:buFontTx/>
              <a:buChar char="-"/>
            </a:pPr>
            <a:r>
              <a:rPr lang="it-IT" dirty="0"/>
              <a:t>All’utente viene presentata una schermata di benvenuto</a:t>
            </a:r>
          </a:p>
          <a:p>
            <a:pPr marL="285750" indent="-285750">
              <a:buFontTx/>
              <a:buChar char="-"/>
            </a:pPr>
            <a:r>
              <a:rPr lang="it-IT" dirty="0"/>
              <a:t>L’utente inserisce il messaggio di input</a:t>
            </a:r>
          </a:p>
          <a:p>
            <a:pPr marL="285750" indent="-285750">
              <a:buFontTx/>
              <a:buChar char="-"/>
            </a:pPr>
            <a:r>
              <a:rPr lang="it-IT" dirty="0"/>
              <a:t>Gli agenti AI intraprendono una conversazione relativa al messaggio dell’utente (per N turni prestabiliti)</a:t>
            </a:r>
          </a:p>
          <a:p>
            <a:pPr marL="285750" indent="-285750">
              <a:buFontTx/>
              <a:buChar char="-"/>
            </a:pPr>
            <a:r>
              <a:rPr lang="it-IT" dirty="0"/>
              <a:t>Alla fine un Agente sintetizza la conversazione e la esporta in formato .</a:t>
            </a:r>
            <a:r>
              <a:rPr lang="it-IT" dirty="0" err="1"/>
              <a:t>txt</a:t>
            </a:r>
            <a:r>
              <a:rPr lang="it-IT" dirty="0"/>
              <a:t> nella cartella dedicata</a:t>
            </a:r>
          </a:p>
        </p:txBody>
      </p:sp>
      <p:cxnSp>
        <p:nvCxnSpPr>
          <p:cNvPr id="20" name="Connettore diritto 19">
            <a:extLst>
              <a:ext uri="{FF2B5EF4-FFF2-40B4-BE49-F238E27FC236}">
                <a16:creationId xmlns:a16="http://schemas.microsoft.com/office/drawing/2014/main" id="{D175AC0E-858D-F906-AEE3-17A2AB5D4E85}"/>
              </a:ext>
            </a:extLst>
          </p:cNvPr>
          <p:cNvCxnSpPr>
            <a:stCxn id="10" idx="2"/>
          </p:cNvCxnSpPr>
          <p:nvPr/>
        </p:nvCxnSpPr>
        <p:spPr>
          <a:xfrm>
            <a:off x="6011834" y="4670681"/>
            <a:ext cx="0" cy="2336609"/>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56951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95DC3-11BB-791E-DBE3-0FE6C6A1FB58}"/>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08C05F43-1608-AE17-9C07-C8C00971C352}"/>
              </a:ext>
            </a:extLst>
          </p:cNvPr>
          <p:cNvSpPr/>
          <p:nvPr/>
        </p:nvSpPr>
        <p:spPr>
          <a:xfrm>
            <a:off x="0" y="0"/>
            <a:ext cx="12192000" cy="11010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a:p>
        </p:txBody>
      </p:sp>
      <p:sp>
        <p:nvSpPr>
          <p:cNvPr id="2" name="CasellaDiTesto 1">
            <a:extLst>
              <a:ext uri="{FF2B5EF4-FFF2-40B4-BE49-F238E27FC236}">
                <a16:creationId xmlns:a16="http://schemas.microsoft.com/office/drawing/2014/main" id="{C402A649-1224-6A7F-69CD-2F2744E1D64D}"/>
              </a:ext>
            </a:extLst>
          </p:cNvPr>
          <p:cNvSpPr txBox="1"/>
          <p:nvPr/>
        </p:nvSpPr>
        <p:spPr>
          <a:xfrm>
            <a:off x="0" y="88841"/>
            <a:ext cx="12192000" cy="923330"/>
          </a:xfrm>
          <a:prstGeom prst="rect">
            <a:avLst/>
          </a:prstGeom>
          <a:noFill/>
        </p:spPr>
        <p:txBody>
          <a:bodyPr wrap="square" rtlCol="0">
            <a:spAutoFit/>
          </a:bodyPr>
          <a:lstStyle/>
          <a:p>
            <a:pPr algn="ctr"/>
            <a:r>
              <a:rPr lang="it-IT" sz="5400" dirty="0"/>
              <a:t>ESECUZIONE DEL PROGETTO</a:t>
            </a:r>
          </a:p>
        </p:txBody>
      </p:sp>
      <p:sp>
        <p:nvSpPr>
          <p:cNvPr id="13" name="CasellaDiTesto 12">
            <a:extLst>
              <a:ext uri="{FF2B5EF4-FFF2-40B4-BE49-F238E27FC236}">
                <a16:creationId xmlns:a16="http://schemas.microsoft.com/office/drawing/2014/main" id="{F1F6233B-921F-9A12-E91F-90CBEDBF886E}"/>
              </a:ext>
            </a:extLst>
          </p:cNvPr>
          <p:cNvSpPr txBox="1"/>
          <p:nvPr/>
        </p:nvSpPr>
        <p:spPr>
          <a:xfrm>
            <a:off x="0" y="1262435"/>
            <a:ext cx="8173616" cy="369332"/>
          </a:xfrm>
          <a:prstGeom prst="rect">
            <a:avLst/>
          </a:prstGeom>
          <a:noFill/>
        </p:spPr>
        <p:txBody>
          <a:bodyPr wrap="square">
            <a:spAutoFit/>
          </a:bodyPr>
          <a:lstStyle/>
          <a:p>
            <a:pPr algn="ctr"/>
            <a:r>
              <a:rPr lang="it-IT" dirty="0"/>
              <a:t>Per l’esecuzione del progetto come prototipo di web-app (</a:t>
            </a:r>
            <a:r>
              <a:rPr lang="it-IT" b="1" dirty="0"/>
              <a:t>versione completa</a:t>
            </a:r>
            <a:r>
              <a:rPr lang="it-IT" dirty="0"/>
              <a:t>):</a:t>
            </a:r>
          </a:p>
        </p:txBody>
      </p:sp>
      <p:pic>
        <p:nvPicPr>
          <p:cNvPr id="14" name="Immagine 13">
            <a:extLst>
              <a:ext uri="{FF2B5EF4-FFF2-40B4-BE49-F238E27FC236}">
                <a16:creationId xmlns:a16="http://schemas.microsoft.com/office/drawing/2014/main" id="{1CC9926A-975E-0659-16AD-179FA4C67BDE}"/>
              </a:ext>
            </a:extLst>
          </p:cNvPr>
          <p:cNvPicPr>
            <a:picLocks noChangeAspect="1"/>
          </p:cNvPicPr>
          <p:nvPr/>
        </p:nvPicPr>
        <p:blipFill>
          <a:blip r:embed="rId2"/>
          <a:srcRect r="15376" b="29646"/>
          <a:stretch/>
        </p:blipFill>
        <p:spPr>
          <a:xfrm>
            <a:off x="148895" y="1631767"/>
            <a:ext cx="6202536" cy="2367377"/>
          </a:xfrm>
          <a:prstGeom prst="rect">
            <a:avLst/>
          </a:prstGeom>
        </p:spPr>
      </p:pic>
      <p:sp>
        <p:nvSpPr>
          <p:cNvPr id="16" name="CasellaDiTesto 15">
            <a:extLst>
              <a:ext uri="{FF2B5EF4-FFF2-40B4-BE49-F238E27FC236}">
                <a16:creationId xmlns:a16="http://schemas.microsoft.com/office/drawing/2014/main" id="{A7221D24-545B-D138-842F-9758A77C33DE}"/>
              </a:ext>
            </a:extLst>
          </p:cNvPr>
          <p:cNvSpPr txBox="1"/>
          <p:nvPr/>
        </p:nvSpPr>
        <p:spPr>
          <a:xfrm>
            <a:off x="6258521" y="3133690"/>
            <a:ext cx="6130212" cy="369332"/>
          </a:xfrm>
          <a:prstGeom prst="rect">
            <a:avLst/>
          </a:prstGeom>
          <a:noFill/>
        </p:spPr>
        <p:txBody>
          <a:bodyPr wrap="square">
            <a:spAutoFit/>
          </a:bodyPr>
          <a:lstStyle/>
          <a:p>
            <a:pPr algn="ctr"/>
            <a:r>
              <a:rPr lang="it-IT" dirty="0"/>
              <a:t>Copiare il </a:t>
            </a:r>
            <a:r>
              <a:rPr lang="it-IT" b="1" dirty="0"/>
              <a:t>Network URL </a:t>
            </a:r>
            <a:r>
              <a:rPr lang="it-IT" dirty="0"/>
              <a:t>e incollarlo in una pagina Google:</a:t>
            </a:r>
          </a:p>
        </p:txBody>
      </p:sp>
      <p:pic>
        <p:nvPicPr>
          <p:cNvPr id="17" name="Immagine 16">
            <a:extLst>
              <a:ext uri="{FF2B5EF4-FFF2-40B4-BE49-F238E27FC236}">
                <a16:creationId xmlns:a16="http://schemas.microsoft.com/office/drawing/2014/main" id="{D92080AD-8A35-B7DC-EFAD-D5D0A6FAE3AD}"/>
              </a:ext>
            </a:extLst>
          </p:cNvPr>
          <p:cNvPicPr>
            <a:picLocks noChangeAspect="1"/>
          </p:cNvPicPr>
          <p:nvPr/>
        </p:nvPicPr>
        <p:blipFill>
          <a:blip r:embed="rId3"/>
          <a:srcRect l="14976" t="4722" r="4481" b="30708"/>
          <a:stretch/>
        </p:blipFill>
        <p:spPr>
          <a:xfrm>
            <a:off x="4500465" y="3568536"/>
            <a:ext cx="7097486" cy="3200623"/>
          </a:xfrm>
          <a:prstGeom prst="rect">
            <a:avLst/>
          </a:prstGeom>
        </p:spPr>
      </p:pic>
      <p:sp>
        <p:nvSpPr>
          <p:cNvPr id="4" name="Freccia curva 3">
            <a:extLst>
              <a:ext uri="{FF2B5EF4-FFF2-40B4-BE49-F238E27FC236}">
                <a16:creationId xmlns:a16="http://schemas.microsoft.com/office/drawing/2014/main" id="{4894F53B-287D-C81C-9AF9-533F3CEB845F}"/>
              </a:ext>
            </a:extLst>
          </p:cNvPr>
          <p:cNvSpPr/>
          <p:nvPr/>
        </p:nvSpPr>
        <p:spPr>
          <a:xfrm rot="1565287" flipV="1">
            <a:off x="1835716" y="4224407"/>
            <a:ext cx="2750248" cy="116619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6" name="CasellaDiTesto 5">
            <a:extLst>
              <a:ext uri="{FF2B5EF4-FFF2-40B4-BE49-F238E27FC236}">
                <a16:creationId xmlns:a16="http://schemas.microsoft.com/office/drawing/2014/main" id="{B2CBA605-8717-5244-FBF7-47264711115A}"/>
              </a:ext>
            </a:extLst>
          </p:cNvPr>
          <p:cNvSpPr txBox="1"/>
          <p:nvPr/>
        </p:nvSpPr>
        <p:spPr>
          <a:xfrm rot="1468555">
            <a:off x="1430355" y="5199486"/>
            <a:ext cx="2808909" cy="369332"/>
          </a:xfrm>
          <a:prstGeom prst="rect">
            <a:avLst/>
          </a:prstGeom>
          <a:noFill/>
        </p:spPr>
        <p:txBody>
          <a:bodyPr wrap="square" rtlCol="0">
            <a:spAutoFit/>
          </a:bodyPr>
          <a:lstStyle/>
          <a:p>
            <a:r>
              <a:rPr lang="it-IT" dirty="0"/>
              <a:t>Si dovrebbe aprire così…</a:t>
            </a:r>
          </a:p>
        </p:txBody>
      </p:sp>
    </p:spTree>
    <p:extLst>
      <p:ext uri="{BB962C8B-B14F-4D97-AF65-F5344CB8AC3E}">
        <p14:creationId xmlns:p14="http://schemas.microsoft.com/office/powerpoint/2010/main" val="2309945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74DF6325-E0BE-D608-65B2-1F3EF0769931}"/>
              </a:ext>
            </a:extLst>
          </p:cNvPr>
          <p:cNvSpPr txBox="1"/>
          <p:nvPr/>
        </p:nvSpPr>
        <p:spPr>
          <a:xfrm>
            <a:off x="-2" y="1314110"/>
            <a:ext cx="12192000" cy="5355312"/>
          </a:xfrm>
          <a:prstGeom prst="rect">
            <a:avLst/>
          </a:prstGeom>
          <a:noFill/>
        </p:spPr>
        <p:txBody>
          <a:bodyPr wrap="square" rtlCol="0">
            <a:spAutoFit/>
          </a:bodyPr>
          <a:lstStyle/>
          <a:p>
            <a:pPr algn="ctr"/>
            <a:r>
              <a:rPr lang="it-IT" dirty="0"/>
              <a:t>In allegato alla email, oltre al PowerPoint che spiega la realizzazione del progetto e ne mostra la simulazione di esecuzione,</a:t>
            </a:r>
          </a:p>
          <a:p>
            <a:pPr algn="ctr"/>
            <a:r>
              <a:rPr lang="it-IT" dirty="0"/>
              <a:t>Ho inserito la cartella zip contenente tutto il codice e i prompts del progetto (</a:t>
            </a:r>
            <a:r>
              <a:rPr lang="it-IT" b="1" dirty="0"/>
              <a:t>Aitho-Project.zip</a:t>
            </a:r>
            <a:r>
              <a:rPr lang="it-IT" dirty="0"/>
              <a:t>)</a:t>
            </a:r>
            <a:r>
              <a:rPr lang="it-IT" b="0" i="0" dirty="0">
                <a:solidFill>
                  <a:srgbClr val="474747"/>
                </a:solidFill>
                <a:effectLst/>
                <a:latin typeface="Arial" panose="020B0604020202020204" pitchFamily="34" charset="0"/>
              </a:rPr>
              <a:t> 📁</a:t>
            </a:r>
            <a:endParaRPr lang="it-IT" dirty="0"/>
          </a:p>
          <a:p>
            <a:pPr algn="ctr"/>
            <a:endParaRPr lang="it-IT" dirty="0"/>
          </a:p>
          <a:p>
            <a:pPr algn="ctr"/>
            <a:r>
              <a:rPr lang="it-IT" dirty="0"/>
              <a:t>Ho testato con un mio collega inviandogli la cartella e facendogliela estrarre sul desktop per vedere se fosse tutto conferme a come dovrebbe essere e sembra non ci siano problemi. (Non gli ho fatto scaricare </a:t>
            </a:r>
            <a:r>
              <a:rPr lang="it-IT" dirty="0" err="1"/>
              <a:t>pydantic</a:t>
            </a:r>
            <a:r>
              <a:rPr lang="it-IT" dirty="0"/>
              <a:t>, </a:t>
            </a:r>
            <a:r>
              <a:rPr lang="it-IT" dirty="0" err="1"/>
              <a:t>ollama</a:t>
            </a:r>
            <a:r>
              <a:rPr lang="it-IT" dirty="0"/>
              <a:t>, </a:t>
            </a:r>
            <a:r>
              <a:rPr lang="it-IT" dirty="0" err="1"/>
              <a:t>streamlit</a:t>
            </a:r>
            <a:r>
              <a:rPr lang="it-IT" dirty="0"/>
              <a:t> per non occupargli memoria del suo PC, cioè non ho testato dal suo PC se effettivamente il programma funzionasse, quindi prego che il tutto funzioni normalmente anche in un altro hardware </a:t>
            </a:r>
            <a:r>
              <a:rPr lang="it-IT" b="0" i="0" dirty="0">
                <a:solidFill>
                  <a:srgbClr val="474747"/>
                </a:solidFill>
                <a:effectLst/>
                <a:latin typeface="Google Sans"/>
              </a:rPr>
              <a:t>🙏.</a:t>
            </a:r>
          </a:p>
          <a:p>
            <a:pPr algn="ctr"/>
            <a:endParaRPr lang="it-IT" dirty="0">
              <a:solidFill>
                <a:srgbClr val="474747"/>
              </a:solidFill>
              <a:latin typeface="Google Sans"/>
            </a:endParaRPr>
          </a:p>
          <a:p>
            <a:pPr algn="ctr"/>
            <a:r>
              <a:rPr lang="it-IT" dirty="0"/>
              <a:t>Se, però, ci dovessero essere dei problemi riguardo codice/prompt o possibili errori, inviatemi una email presso l’indirizzo di posta:</a:t>
            </a:r>
            <a:r>
              <a:rPr lang="it-IT" dirty="0">
                <a:solidFill>
                  <a:srgbClr val="474747"/>
                </a:solidFill>
              </a:rPr>
              <a:t> </a:t>
            </a:r>
            <a:r>
              <a:rPr lang="it-IT" dirty="0">
                <a:solidFill>
                  <a:srgbClr val="474747"/>
                </a:solidFill>
                <a:hlinkClick r:id="rId2"/>
              </a:rPr>
              <a:t>conti.daniele.220406@gmail.com</a:t>
            </a:r>
            <a:r>
              <a:rPr lang="it-IT" dirty="0">
                <a:solidFill>
                  <a:srgbClr val="474747"/>
                </a:solidFill>
              </a:rPr>
              <a:t> </a:t>
            </a:r>
            <a:r>
              <a:rPr lang="it-IT" dirty="0"/>
              <a:t>e provvederò a correggere il tutto il prima possibile.</a:t>
            </a:r>
            <a:r>
              <a:rPr lang="it-IT" b="0" i="0" dirty="0">
                <a:solidFill>
                  <a:srgbClr val="474747"/>
                </a:solidFill>
                <a:effectLst/>
                <a:latin typeface="Google Sans"/>
              </a:rPr>
              <a:t> 📩</a:t>
            </a:r>
          </a:p>
          <a:p>
            <a:pPr algn="ctr"/>
            <a:endParaRPr lang="it-IT" dirty="0">
              <a:solidFill>
                <a:srgbClr val="474747"/>
              </a:solidFill>
              <a:latin typeface="Google Sans"/>
            </a:endParaRPr>
          </a:p>
          <a:p>
            <a:pPr algn="ctr"/>
            <a:endParaRPr lang="it-IT" dirty="0">
              <a:solidFill>
                <a:srgbClr val="474747"/>
              </a:solidFill>
              <a:latin typeface="Google Sans"/>
            </a:endParaRPr>
          </a:p>
          <a:p>
            <a:pPr algn="ctr"/>
            <a:endParaRPr lang="it-IT" dirty="0">
              <a:solidFill>
                <a:srgbClr val="474747"/>
              </a:solidFill>
              <a:latin typeface="Google Sans"/>
            </a:endParaRPr>
          </a:p>
          <a:p>
            <a:pPr algn="ctr"/>
            <a:r>
              <a:rPr lang="it-IT" dirty="0">
                <a:solidFill>
                  <a:srgbClr val="474747"/>
                </a:solidFill>
                <a:latin typeface="Google Sans"/>
              </a:rPr>
              <a:t>Detto questo, spero vi piaccia come ho realizzato questo progetto, nonostante la </a:t>
            </a:r>
            <a:r>
              <a:rPr lang="it-IT" dirty="0" err="1">
                <a:solidFill>
                  <a:srgbClr val="474747"/>
                </a:solidFill>
                <a:latin typeface="Google Sans"/>
              </a:rPr>
              <a:t>dis</a:t>
            </a:r>
            <a:r>
              <a:rPr lang="it-IT" dirty="0">
                <a:solidFill>
                  <a:srgbClr val="474747"/>
                </a:solidFill>
                <a:latin typeface="Google Sans"/>
              </a:rPr>
              <a:t>-intelligenza (alcune volte) di gemma3:1b.</a:t>
            </a:r>
          </a:p>
          <a:p>
            <a:pPr algn="ctr"/>
            <a:r>
              <a:rPr lang="it-IT" dirty="0">
                <a:solidFill>
                  <a:srgbClr val="474747"/>
                </a:solidFill>
                <a:latin typeface="Google Sans"/>
              </a:rPr>
              <a:t>Era la prima volta che ho realizzato qualcosa del genere e mi è piaciuto molto!</a:t>
            </a:r>
          </a:p>
          <a:p>
            <a:pPr algn="ctr"/>
            <a:endParaRPr lang="it-IT" dirty="0">
              <a:solidFill>
                <a:srgbClr val="474747"/>
              </a:solidFill>
              <a:latin typeface="Google Sans"/>
            </a:endParaRPr>
          </a:p>
          <a:p>
            <a:pPr algn="ctr"/>
            <a:endParaRPr lang="it-IT" dirty="0">
              <a:solidFill>
                <a:srgbClr val="474747"/>
              </a:solidFill>
              <a:latin typeface="Google Sans"/>
            </a:endParaRPr>
          </a:p>
          <a:p>
            <a:pPr algn="ctr"/>
            <a:endParaRPr lang="it-IT" dirty="0">
              <a:solidFill>
                <a:srgbClr val="474747"/>
              </a:solidFill>
              <a:latin typeface="Google Sans"/>
            </a:endParaRPr>
          </a:p>
          <a:p>
            <a:pPr algn="ctr"/>
            <a:r>
              <a:rPr lang="it-IT" dirty="0">
                <a:solidFill>
                  <a:srgbClr val="474747"/>
                </a:solidFill>
                <a:latin typeface="Google Sans"/>
              </a:rPr>
              <a:t>Grazie per l’opportunità</a:t>
            </a:r>
          </a:p>
        </p:txBody>
      </p:sp>
      <p:sp>
        <p:nvSpPr>
          <p:cNvPr id="4" name="Rettangolo 3">
            <a:extLst>
              <a:ext uri="{FF2B5EF4-FFF2-40B4-BE49-F238E27FC236}">
                <a16:creationId xmlns:a16="http://schemas.microsoft.com/office/drawing/2014/main" id="{DA050D4F-C604-CA69-9B72-2F659C0F5229}"/>
              </a:ext>
            </a:extLst>
          </p:cNvPr>
          <p:cNvSpPr/>
          <p:nvPr/>
        </p:nvSpPr>
        <p:spPr>
          <a:xfrm>
            <a:off x="0" y="0"/>
            <a:ext cx="12192000" cy="110101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it-IT"/>
          </a:p>
        </p:txBody>
      </p:sp>
      <p:sp>
        <p:nvSpPr>
          <p:cNvPr id="5" name="CasellaDiTesto 4">
            <a:extLst>
              <a:ext uri="{FF2B5EF4-FFF2-40B4-BE49-F238E27FC236}">
                <a16:creationId xmlns:a16="http://schemas.microsoft.com/office/drawing/2014/main" id="{B62E2DAE-3294-3BDC-1CCB-1D548B2AB89A}"/>
              </a:ext>
            </a:extLst>
          </p:cNvPr>
          <p:cNvSpPr txBox="1"/>
          <p:nvPr/>
        </p:nvSpPr>
        <p:spPr>
          <a:xfrm>
            <a:off x="-2" y="121300"/>
            <a:ext cx="12192002" cy="1323439"/>
          </a:xfrm>
          <a:prstGeom prst="rect">
            <a:avLst/>
          </a:prstGeom>
          <a:noFill/>
        </p:spPr>
        <p:txBody>
          <a:bodyPr wrap="square" rtlCol="0">
            <a:spAutoFit/>
          </a:bodyPr>
          <a:lstStyle/>
          <a:p>
            <a:pPr algn="ctr"/>
            <a:r>
              <a:rPr lang="it-IT" sz="4000" b="0" dirty="0">
                <a:solidFill>
                  <a:srgbClr val="CE9178"/>
                </a:solidFill>
                <a:effectLst/>
                <a:latin typeface="Consolas" panose="020B0609020204030204" pitchFamily="49" charset="0"/>
              </a:rPr>
              <a:t>⚠️ </a:t>
            </a:r>
            <a:r>
              <a:rPr lang="it-IT" sz="4000" b="1" u="sng" dirty="0"/>
              <a:t>DISCLAIMER FINALE</a:t>
            </a:r>
            <a:r>
              <a:rPr lang="it-IT" sz="4000" dirty="0"/>
              <a:t>  </a:t>
            </a:r>
            <a:r>
              <a:rPr lang="it-IT" sz="4000" b="0" dirty="0">
                <a:solidFill>
                  <a:srgbClr val="CE9178"/>
                </a:solidFill>
                <a:effectLst/>
                <a:latin typeface="Consolas" panose="020B0609020204030204" pitchFamily="49" charset="0"/>
              </a:rPr>
              <a:t>⚠️</a:t>
            </a:r>
            <a:endParaRPr lang="it-IT" sz="4000" b="0" dirty="0">
              <a:solidFill>
                <a:srgbClr val="CCCCCC"/>
              </a:solidFill>
              <a:effectLst/>
              <a:latin typeface="Consolas" panose="020B0609020204030204" pitchFamily="49" charset="0"/>
            </a:endParaRPr>
          </a:p>
          <a:p>
            <a:pPr algn="ctr"/>
            <a:endParaRPr lang="it-IT" sz="4000" dirty="0"/>
          </a:p>
        </p:txBody>
      </p:sp>
    </p:spTree>
    <p:extLst>
      <p:ext uri="{BB962C8B-B14F-4D97-AF65-F5344CB8AC3E}">
        <p14:creationId xmlns:p14="http://schemas.microsoft.com/office/powerpoint/2010/main" val="1208683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38AEB-8FBE-B0B2-3D3D-48FA9575449A}"/>
            </a:ext>
          </a:extLst>
        </p:cNvPr>
        <p:cNvGrpSpPr/>
        <p:nvPr/>
      </p:nvGrpSpPr>
      <p:grpSpPr>
        <a:xfrm>
          <a:off x="0" y="0"/>
          <a:ext cx="0" cy="0"/>
          <a:chOff x="0" y="0"/>
          <a:chExt cx="0" cy="0"/>
        </a:xfrm>
      </p:grpSpPr>
      <p:pic>
        <p:nvPicPr>
          <p:cNvPr id="20" name="Immagine 19">
            <a:extLst>
              <a:ext uri="{FF2B5EF4-FFF2-40B4-BE49-F238E27FC236}">
                <a16:creationId xmlns:a16="http://schemas.microsoft.com/office/drawing/2014/main" id="{5A107378-4D91-5031-3084-42A88B81CDF6}"/>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220" y="382555"/>
            <a:ext cx="12185780" cy="6092890"/>
          </a:xfrm>
          <a:prstGeom prst="rect">
            <a:avLst/>
          </a:prstGeom>
        </p:spPr>
      </p:pic>
      <p:sp>
        <p:nvSpPr>
          <p:cNvPr id="8" name="Rettangolo con angoli arrotondati 7">
            <a:extLst>
              <a:ext uri="{FF2B5EF4-FFF2-40B4-BE49-F238E27FC236}">
                <a16:creationId xmlns:a16="http://schemas.microsoft.com/office/drawing/2014/main" id="{47965863-F939-3186-9701-37B0587F5F04}"/>
              </a:ext>
            </a:extLst>
          </p:cNvPr>
          <p:cNvSpPr/>
          <p:nvPr/>
        </p:nvSpPr>
        <p:spPr>
          <a:xfrm>
            <a:off x="870857" y="1996750"/>
            <a:ext cx="10450286" cy="219269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it-IT"/>
          </a:p>
        </p:txBody>
      </p:sp>
      <p:sp>
        <p:nvSpPr>
          <p:cNvPr id="13" name="Rettangolo 12">
            <a:extLst>
              <a:ext uri="{FF2B5EF4-FFF2-40B4-BE49-F238E27FC236}">
                <a16:creationId xmlns:a16="http://schemas.microsoft.com/office/drawing/2014/main" id="{A560B582-A737-1380-2B04-370A768639B2}"/>
              </a:ext>
            </a:extLst>
          </p:cNvPr>
          <p:cNvSpPr/>
          <p:nvPr/>
        </p:nvSpPr>
        <p:spPr>
          <a:xfrm>
            <a:off x="0" y="6211669"/>
            <a:ext cx="4655976" cy="64633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it-IT"/>
          </a:p>
        </p:txBody>
      </p:sp>
      <p:sp>
        <p:nvSpPr>
          <p:cNvPr id="5" name="CasellaDiTesto 4">
            <a:extLst>
              <a:ext uri="{FF2B5EF4-FFF2-40B4-BE49-F238E27FC236}">
                <a16:creationId xmlns:a16="http://schemas.microsoft.com/office/drawing/2014/main" id="{AE9D1130-A399-6DE6-242A-22F8FF69A7E0}"/>
              </a:ext>
            </a:extLst>
          </p:cNvPr>
          <p:cNvSpPr txBox="1"/>
          <p:nvPr/>
        </p:nvSpPr>
        <p:spPr>
          <a:xfrm>
            <a:off x="0" y="6211669"/>
            <a:ext cx="5122506" cy="646331"/>
          </a:xfrm>
          <a:prstGeom prst="rect">
            <a:avLst/>
          </a:prstGeom>
          <a:noFill/>
        </p:spPr>
        <p:txBody>
          <a:bodyPr wrap="square" rtlCol="0">
            <a:spAutoFit/>
          </a:bodyPr>
          <a:lstStyle/>
          <a:p>
            <a:r>
              <a:rPr lang="it-IT" dirty="0"/>
              <a:t>Progetto realizzato da: </a:t>
            </a:r>
            <a:r>
              <a:rPr lang="it-IT" b="1" dirty="0"/>
              <a:t>Daniele Conti </a:t>
            </a:r>
            <a:r>
              <a:rPr lang="it-IT" dirty="0"/>
              <a:t>– UNICT </a:t>
            </a:r>
          </a:p>
          <a:p>
            <a:r>
              <a:rPr lang="it-IT" dirty="0"/>
              <a:t>Matricola: 1000075717</a:t>
            </a:r>
          </a:p>
        </p:txBody>
      </p:sp>
      <p:sp>
        <p:nvSpPr>
          <p:cNvPr id="7" name="CasellaDiTesto 6">
            <a:extLst>
              <a:ext uri="{FF2B5EF4-FFF2-40B4-BE49-F238E27FC236}">
                <a16:creationId xmlns:a16="http://schemas.microsoft.com/office/drawing/2014/main" id="{2D0F5C35-5A9B-FDDF-85F3-6B212A15292E}"/>
              </a:ext>
            </a:extLst>
          </p:cNvPr>
          <p:cNvSpPr txBox="1"/>
          <p:nvPr/>
        </p:nvSpPr>
        <p:spPr>
          <a:xfrm>
            <a:off x="870857" y="2128264"/>
            <a:ext cx="10450286" cy="1938992"/>
          </a:xfrm>
          <a:prstGeom prst="rect">
            <a:avLst/>
          </a:prstGeom>
          <a:noFill/>
        </p:spPr>
        <p:txBody>
          <a:bodyPr wrap="square" rtlCol="0">
            <a:spAutoFit/>
          </a:bodyPr>
          <a:lstStyle/>
          <a:p>
            <a:pPr algn="ctr"/>
            <a:r>
              <a:rPr lang="it-IT" sz="6000" dirty="0">
                <a:ln>
                  <a:solidFill>
                    <a:schemeClr val="tx1"/>
                  </a:solidFill>
                </a:ln>
              </a:rPr>
              <a:t>AI Tool per il Brainstorming Collaborativo</a:t>
            </a:r>
          </a:p>
        </p:txBody>
      </p:sp>
      <p:pic>
        <p:nvPicPr>
          <p:cNvPr id="10" name="Elemento grafico 9" descr="Social network">
            <a:extLst>
              <a:ext uri="{FF2B5EF4-FFF2-40B4-BE49-F238E27FC236}">
                <a16:creationId xmlns:a16="http://schemas.microsoft.com/office/drawing/2014/main" id="{51F3FE2E-471A-F5F6-2FB5-F4ED06C4BA6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4955" y="645366"/>
            <a:ext cx="914400" cy="914400"/>
          </a:xfrm>
          <a:prstGeom prst="rect">
            <a:avLst/>
          </a:prstGeom>
        </p:spPr>
      </p:pic>
      <p:pic>
        <p:nvPicPr>
          <p:cNvPr id="12" name="Elemento grafico 11" descr="Internet">
            <a:extLst>
              <a:ext uri="{FF2B5EF4-FFF2-40B4-BE49-F238E27FC236}">
                <a16:creationId xmlns:a16="http://schemas.microsoft.com/office/drawing/2014/main" id="{DA06ECB8-B294-63AC-09CF-1A3AE8D07DB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84025" y="4828592"/>
            <a:ext cx="914400" cy="914400"/>
          </a:xfrm>
          <a:prstGeom prst="rect">
            <a:avLst/>
          </a:prstGeom>
        </p:spPr>
      </p:pic>
      <p:cxnSp>
        <p:nvCxnSpPr>
          <p:cNvPr id="15" name="Connettore diritto 14">
            <a:extLst>
              <a:ext uri="{FF2B5EF4-FFF2-40B4-BE49-F238E27FC236}">
                <a16:creationId xmlns:a16="http://schemas.microsoft.com/office/drawing/2014/main" id="{351ED3DA-DE0D-360C-15C1-85D3FCBF7E9B}"/>
              </a:ext>
            </a:extLst>
          </p:cNvPr>
          <p:cNvCxnSpPr/>
          <p:nvPr/>
        </p:nvCxnSpPr>
        <p:spPr>
          <a:xfrm>
            <a:off x="0" y="0"/>
            <a:ext cx="12192000" cy="199675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Connettore diritto 15">
            <a:extLst>
              <a:ext uri="{FF2B5EF4-FFF2-40B4-BE49-F238E27FC236}">
                <a16:creationId xmlns:a16="http://schemas.microsoft.com/office/drawing/2014/main" id="{EE119F54-96E6-B52A-77CE-378903B7C568}"/>
              </a:ext>
            </a:extLst>
          </p:cNvPr>
          <p:cNvCxnSpPr/>
          <p:nvPr/>
        </p:nvCxnSpPr>
        <p:spPr>
          <a:xfrm>
            <a:off x="0" y="4609323"/>
            <a:ext cx="12192000" cy="199675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8" name="Elemento grafico 17" descr="Testa con ingranaggi">
            <a:extLst>
              <a:ext uri="{FF2B5EF4-FFF2-40B4-BE49-F238E27FC236}">
                <a16:creationId xmlns:a16="http://schemas.microsoft.com/office/drawing/2014/main" id="{89EEA5D2-3D76-FAFC-13AB-D296049F83B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85445" y="415211"/>
            <a:ext cx="914400" cy="914400"/>
          </a:xfrm>
          <a:prstGeom prst="rect">
            <a:avLst/>
          </a:prstGeom>
        </p:spPr>
      </p:pic>
      <p:sp>
        <p:nvSpPr>
          <p:cNvPr id="19" name="AutoShape 2" descr="Un Design Giocoso E Moderno Con Un Assortimento Di Forme Geometriche, Forme  Geometriche, Geometrico, Motivo Geometrico Immagine di sfondo per il  download gratuito">
            <a:extLst>
              <a:ext uri="{FF2B5EF4-FFF2-40B4-BE49-F238E27FC236}">
                <a16:creationId xmlns:a16="http://schemas.microsoft.com/office/drawing/2014/main" id="{F3C76440-6CB2-C04E-BC5A-515CB78CB3A8}"/>
              </a:ext>
            </a:extLst>
          </p:cNvPr>
          <p:cNvSpPr>
            <a:spLocks noChangeAspect="1" noChangeArrowheads="1"/>
          </p:cNvSpPr>
          <p:nvPr/>
        </p:nvSpPr>
        <p:spPr bwMode="auto">
          <a:xfrm>
            <a:off x="2230016" y="3276600"/>
            <a:ext cx="4018384" cy="401838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spTree>
    <p:extLst>
      <p:ext uri="{BB962C8B-B14F-4D97-AF65-F5344CB8AC3E}">
        <p14:creationId xmlns:p14="http://schemas.microsoft.com/office/powerpoint/2010/main" val="2876832963"/>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TotalTime>
  <Words>1010</Words>
  <Application>Microsoft Office PowerPoint</Application>
  <PresentationFormat>Widescreen</PresentationFormat>
  <Paragraphs>85</Paragraphs>
  <Slides>10</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10</vt:i4>
      </vt:variant>
    </vt:vector>
  </HeadingPairs>
  <TitlesOfParts>
    <vt:vector size="16" baseType="lpstr">
      <vt:lpstr>Arial</vt:lpstr>
      <vt:lpstr>Calibri</vt:lpstr>
      <vt:lpstr>Calibri Light</vt:lpstr>
      <vt:lpstr>Consolas</vt:lpstr>
      <vt:lpstr>Google Sans</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DANIELE CONTI</dc:creator>
  <cp:lastModifiedBy>DANIELE CONTI</cp:lastModifiedBy>
  <cp:revision>2</cp:revision>
  <dcterms:created xsi:type="dcterms:W3CDTF">2025-06-18T11:16:38Z</dcterms:created>
  <dcterms:modified xsi:type="dcterms:W3CDTF">2025-06-18T16:37:23Z</dcterms:modified>
</cp:coreProperties>
</file>